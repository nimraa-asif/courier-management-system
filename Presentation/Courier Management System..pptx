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3" r:id="rId5"/>
    <p:sldId id="290" r:id="rId6"/>
    <p:sldId id="291" r:id="rId7"/>
    <p:sldId id="268" r:id="rId8"/>
    <p:sldId id="269" r:id="rId9"/>
    <p:sldId id="292" r:id="rId10"/>
  </p:sldIdLst>
  <p:sldSz cx="18288000" cy="10287000"/>
  <p:notesSz cx="6858000" cy="9144000"/>
  <p:embeddedFontLst>
    <p:embeddedFont>
      <p:font typeface="Calibri" pitchFamily="34" charset="0"/>
      <p:regular r:id="rId11"/>
      <p:bold r:id="rId12"/>
      <p:italic r:id="rId13"/>
      <p:boldItalic r:id="rId14"/>
    </p:embeddedFont>
    <p:embeddedFont>
      <p:font typeface="DM Sans Italics" charset="0"/>
      <p:regular r:id="rId15"/>
    </p:embeddedFont>
    <p:embeddedFont>
      <p:font typeface="DM Sans" charset="0"/>
      <p:regular r:id="rId16"/>
    </p:embeddedFont>
    <p:embeddedFont>
      <p:font typeface="Georgia" pitchFamily="18"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1204CC"/>
    <a:srgbClr val="1C0FC1"/>
    <a:srgbClr val="3322AE"/>
    <a:srgbClr val="258D9B"/>
    <a:srgbClr val="26319A"/>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4" d="100"/>
          <a:sy n="44" d="100"/>
        </p:scale>
        <p:origin x="-876"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4.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cstate="print"/>
            <a:stretch>
              <a:fillRect t="-38888" b="-38888"/>
            </a:stretch>
          </a:blipFill>
        </p:spPr>
      </p:sp>
      <p:sp>
        <p:nvSpPr>
          <p:cNvPr id="3" name="Freeform 3"/>
          <p:cNvSpPr/>
          <p:nvPr/>
        </p:nvSpPr>
        <p:spPr>
          <a:xfrm rot="1748409">
            <a:off x="-2821137" y="7973496"/>
            <a:ext cx="6755091" cy="6130246"/>
          </a:xfrm>
          <a:custGeom>
            <a:avLst/>
            <a:gdLst/>
            <a:ahLst/>
            <a:cxnLst/>
            <a:rect l="l" t="t" r="r" b="b"/>
            <a:pathLst>
              <a:path w="6755091" h="6130246">
                <a:moveTo>
                  <a:pt x="0" y="0"/>
                </a:moveTo>
                <a:lnTo>
                  <a:pt x="6755092" y="0"/>
                </a:lnTo>
                <a:lnTo>
                  <a:pt x="6755092" y="6130246"/>
                </a:lnTo>
                <a:lnTo>
                  <a:pt x="0" y="6130246"/>
                </a:lnTo>
                <a:lnTo>
                  <a:pt x="0" y="0"/>
                </a:lnTo>
                <a:close/>
              </a:path>
            </a:pathLst>
          </a:custGeom>
          <a:blipFill>
            <a:blip r:embed="rId3" cstate="print"/>
            <a:stretch>
              <a:fillRect/>
            </a:stretch>
          </a:blipFill>
        </p:spPr>
      </p:sp>
      <p:sp>
        <p:nvSpPr>
          <p:cNvPr id="4" name="Freeform 4"/>
          <p:cNvSpPr/>
          <p:nvPr/>
        </p:nvSpPr>
        <p:spPr>
          <a:xfrm rot="2223819">
            <a:off x="13272275" y="-5805257"/>
            <a:ext cx="12596877" cy="11431666"/>
          </a:xfrm>
          <a:custGeom>
            <a:avLst/>
            <a:gdLst/>
            <a:ahLst/>
            <a:cxnLst/>
            <a:rect l="l" t="t" r="r" b="b"/>
            <a:pathLst>
              <a:path w="12596877" h="11431666">
                <a:moveTo>
                  <a:pt x="0" y="0"/>
                </a:moveTo>
                <a:lnTo>
                  <a:pt x="12596877" y="0"/>
                </a:lnTo>
                <a:lnTo>
                  <a:pt x="12596877" y="11431666"/>
                </a:lnTo>
                <a:lnTo>
                  <a:pt x="0" y="11431666"/>
                </a:lnTo>
                <a:lnTo>
                  <a:pt x="0" y="0"/>
                </a:lnTo>
                <a:close/>
              </a:path>
            </a:pathLst>
          </a:custGeom>
          <a:blipFill>
            <a:blip r:embed="rId3" cstate="print"/>
            <a:stretch>
              <a:fillRect/>
            </a:stretch>
          </a:blipFill>
          <a:ln>
            <a:noFill/>
          </a:ln>
        </p:spPr>
      </p:sp>
      <p:sp>
        <p:nvSpPr>
          <p:cNvPr id="6" name="Freeform 6"/>
          <p:cNvSpPr/>
          <p:nvPr/>
        </p:nvSpPr>
        <p:spPr>
          <a:xfrm>
            <a:off x="-1028700" y="-1435399"/>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cstate="print">
              <a:alphaModFix amt="67000"/>
              <a:extLst>
                <a:ext uri="{96DAC541-7B7A-43D3-8B79-37D633B846F1}">
                  <asvg:svgBlip xmlns="" xmlns:asvg="http://schemas.microsoft.com/office/drawing/2016/SVG/main" r:embed="rId5"/>
                </a:ext>
              </a:extLst>
            </a:blip>
            <a:stretch>
              <a:fillRect/>
            </a:stretch>
          </a:blipFill>
        </p:spPr>
      </p:sp>
      <p:sp>
        <p:nvSpPr>
          <p:cNvPr id="7" name="Freeform 7"/>
          <p:cNvSpPr/>
          <p:nvPr/>
        </p:nvSpPr>
        <p:spPr>
          <a:xfrm rot="-8194833">
            <a:off x="14482979" y="8370874"/>
            <a:ext cx="5020066" cy="5020066"/>
          </a:xfrm>
          <a:custGeom>
            <a:avLst/>
            <a:gdLst/>
            <a:ahLst/>
            <a:cxnLst/>
            <a:rect l="l" t="t" r="r" b="b"/>
            <a:pathLst>
              <a:path w="5020066" h="5020066">
                <a:moveTo>
                  <a:pt x="0" y="0"/>
                </a:moveTo>
                <a:lnTo>
                  <a:pt x="5020067" y="0"/>
                </a:lnTo>
                <a:lnTo>
                  <a:pt x="5020067" y="5020066"/>
                </a:lnTo>
                <a:lnTo>
                  <a:pt x="0" y="5020066"/>
                </a:lnTo>
                <a:lnTo>
                  <a:pt x="0" y="0"/>
                </a:lnTo>
                <a:close/>
              </a:path>
            </a:pathLst>
          </a:custGeom>
          <a:blipFill>
            <a:blip r:embed="rId4" cstate="print">
              <a:alphaModFix amt="67000"/>
              <a:extLst>
                <a:ext uri="{96DAC541-7B7A-43D3-8B79-37D633B846F1}">
                  <asvg:svgBlip xmlns="" xmlns:asvg="http://schemas.microsoft.com/office/drawing/2016/SVG/main" r:embed="rId5"/>
                </a:ext>
              </a:extLst>
            </a:blip>
            <a:stretch>
              <a:fillRect/>
            </a:stretch>
          </a:blipFill>
        </p:spPr>
      </p:sp>
      <p:sp>
        <p:nvSpPr>
          <p:cNvPr id="8" name="TextBox 8"/>
          <p:cNvSpPr txBox="1"/>
          <p:nvPr/>
        </p:nvSpPr>
        <p:spPr>
          <a:xfrm>
            <a:off x="2667000" y="3771900"/>
            <a:ext cx="11658600" cy="1263231"/>
          </a:xfrm>
          <a:prstGeom prst="rect">
            <a:avLst/>
          </a:prstGeom>
        </p:spPr>
        <p:txBody>
          <a:bodyPr wrap="square" lIns="0" tIns="0" rIns="0" bIns="0" rtlCol="0" anchor="t">
            <a:spAutoFit/>
          </a:bodyPr>
          <a:lstStyle/>
          <a:p>
            <a:pPr algn="ctr">
              <a:lnSpc>
                <a:spcPts val="10645"/>
              </a:lnSpc>
            </a:pPr>
            <a:r>
              <a:rPr lang="en-US" sz="7200" b="1" i="1" dirty="0" smtClean="0">
                <a:solidFill>
                  <a:srgbClr val="FFFF00"/>
                </a:solidFill>
                <a:latin typeface="+mj-lt"/>
              </a:rPr>
              <a:t>Courier Management System</a:t>
            </a:r>
            <a:endParaRPr lang="en-US" sz="7200" b="1" i="1" dirty="0">
              <a:solidFill>
                <a:srgbClr val="FFFF00"/>
              </a:solidFill>
              <a:latin typeface="+mj-lt"/>
            </a:endParaRPr>
          </a:p>
        </p:txBody>
      </p:sp>
      <p:sp>
        <p:nvSpPr>
          <p:cNvPr id="9" name="TextBox 9"/>
          <p:cNvSpPr txBox="1"/>
          <p:nvPr/>
        </p:nvSpPr>
        <p:spPr>
          <a:xfrm>
            <a:off x="2438400" y="6515100"/>
            <a:ext cx="8991600" cy="1661993"/>
          </a:xfrm>
          <a:prstGeom prst="rect">
            <a:avLst/>
          </a:prstGeom>
        </p:spPr>
        <p:txBody>
          <a:bodyPr wrap="square" lIns="0" tIns="0" rIns="0" bIns="0" rtlCol="0" anchor="t">
            <a:spAutoFit/>
          </a:bodyPr>
          <a:lstStyle/>
          <a:p>
            <a:r>
              <a:rPr lang="en-US" sz="3200" dirty="0" smtClean="0">
                <a:solidFill>
                  <a:schemeClr val="bg1"/>
                </a:solidFill>
              </a:rPr>
              <a:t>By: </a:t>
            </a:r>
            <a:r>
              <a:rPr lang="en-US" sz="3600" b="1" dirty="0" err="1" smtClean="0">
                <a:solidFill>
                  <a:schemeClr val="bg1"/>
                </a:solidFill>
              </a:rPr>
              <a:t>Nimra</a:t>
            </a:r>
            <a:r>
              <a:rPr lang="en-US" sz="3600" b="1" dirty="0" smtClean="0">
                <a:solidFill>
                  <a:schemeClr val="bg1"/>
                </a:solidFill>
              </a:rPr>
              <a:t> Muhammad </a:t>
            </a:r>
            <a:r>
              <a:rPr lang="en-US" sz="3600" b="1" dirty="0" err="1" smtClean="0">
                <a:solidFill>
                  <a:schemeClr val="bg1"/>
                </a:solidFill>
              </a:rPr>
              <a:t>Asif</a:t>
            </a:r>
            <a:r>
              <a:rPr lang="en-US" sz="3600" b="1" dirty="0" smtClean="0">
                <a:solidFill>
                  <a:schemeClr val="bg1"/>
                </a:solidFill>
              </a:rPr>
              <a:t> </a:t>
            </a:r>
            <a:r>
              <a:rPr lang="en-US" sz="3200" dirty="0" smtClean="0">
                <a:solidFill>
                  <a:schemeClr val="bg1"/>
                </a:solidFill>
              </a:rPr>
              <a:t>(Student1447550) </a:t>
            </a:r>
            <a:endParaRPr lang="en-US" sz="3200" dirty="0" smtClean="0">
              <a:solidFill>
                <a:schemeClr val="bg1"/>
              </a:solidFill>
            </a:endParaRPr>
          </a:p>
          <a:p>
            <a:r>
              <a:rPr lang="en-US" sz="3200" dirty="0" smtClean="0">
                <a:solidFill>
                  <a:schemeClr val="bg1"/>
                </a:solidFill>
              </a:rPr>
              <a:t>Faculty</a:t>
            </a:r>
            <a:r>
              <a:rPr lang="en-US" sz="3200" dirty="0" smtClean="0">
                <a:solidFill>
                  <a:schemeClr val="bg1"/>
                </a:solidFill>
              </a:rPr>
              <a:t>: </a:t>
            </a:r>
            <a:r>
              <a:rPr lang="en-US" sz="3600" b="1" dirty="0" smtClean="0">
                <a:solidFill>
                  <a:schemeClr val="bg1"/>
                </a:solidFill>
              </a:rPr>
              <a:t>Sir Hassan </a:t>
            </a:r>
            <a:r>
              <a:rPr lang="en-US" sz="3600" b="1" dirty="0" err="1" smtClean="0">
                <a:solidFill>
                  <a:schemeClr val="bg1"/>
                </a:solidFill>
              </a:rPr>
              <a:t>Naeem</a:t>
            </a:r>
            <a:r>
              <a:rPr lang="en-US" sz="3600" b="1" dirty="0" smtClean="0">
                <a:solidFill>
                  <a:schemeClr val="bg1"/>
                </a:solidFill>
              </a:rPr>
              <a:t> </a:t>
            </a:r>
            <a:endParaRPr lang="en-US" sz="3200" b="1" dirty="0" smtClean="0">
              <a:solidFill>
                <a:schemeClr val="bg1"/>
              </a:solidFill>
            </a:endParaRPr>
          </a:p>
          <a:p>
            <a:r>
              <a:rPr lang="en-US" sz="3200" dirty="0" smtClean="0">
                <a:solidFill>
                  <a:schemeClr val="bg1"/>
                </a:solidFill>
              </a:rPr>
              <a:t>Batch</a:t>
            </a:r>
            <a:r>
              <a:rPr lang="en-US" sz="3200" dirty="0" smtClean="0">
                <a:solidFill>
                  <a:schemeClr val="bg1"/>
                </a:solidFill>
              </a:rPr>
              <a:t>: </a:t>
            </a:r>
            <a:r>
              <a:rPr lang="en-US" sz="3600" b="1" dirty="0" smtClean="0">
                <a:solidFill>
                  <a:schemeClr val="bg1"/>
                </a:solidFill>
              </a:rPr>
              <a:t>2301B</a:t>
            </a:r>
            <a:endParaRPr lang="en-US" sz="3200" b="1" dirty="0">
              <a:solidFill>
                <a:schemeClr val="bg1"/>
              </a:solidFill>
              <a:latin typeface="DM Sans Italics"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cstate="print"/>
            <a:stretch>
              <a:fillRect t="-38888" b="-38888"/>
            </a:stretch>
          </a:blipFill>
        </p:spPr>
      </p:sp>
      <p:sp>
        <p:nvSpPr>
          <p:cNvPr id="3" name="Freeform 3"/>
          <p:cNvSpPr/>
          <p:nvPr/>
        </p:nvSpPr>
        <p:spPr>
          <a:xfrm rot="2223819">
            <a:off x="-6334162" y="5166247"/>
            <a:ext cx="9665112" cy="8771089"/>
          </a:xfrm>
          <a:custGeom>
            <a:avLst/>
            <a:gdLst/>
            <a:ahLst/>
            <a:cxnLst/>
            <a:rect l="l" t="t" r="r" b="b"/>
            <a:pathLst>
              <a:path w="9665112" h="8771089">
                <a:moveTo>
                  <a:pt x="0" y="0"/>
                </a:moveTo>
                <a:lnTo>
                  <a:pt x="9665112" y="0"/>
                </a:lnTo>
                <a:lnTo>
                  <a:pt x="9665112" y="8771089"/>
                </a:lnTo>
                <a:lnTo>
                  <a:pt x="0" y="8771089"/>
                </a:lnTo>
                <a:lnTo>
                  <a:pt x="0" y="0"/>
                </a:lnTo>
                <a:close/>
              </a:path>
            </a:pathLst>
          </a:custGeom>
          <a:blipFill>
            <a:blip r:embed="rId3" cstate="print"/>
            <a:stretch>
              <a:fillRect/>
            </a:stretch>
          </a:blipFill>
        </p:spPr>
      </p:sp>
      <p:sp>
        <p:nvSpPr>
          <p:cNvPr id="4" name="Freeform 4"/>
          <p:cNvSpPr/>
          <p:nvPr/>
        </p:nvSpPr>
        <p:spPr>
          <a:xfrm>
            <a:off x="15489656" y="8232042"/>
            <a:ext cx="1769644" cy="1711728"/>
          </a:xfrm>
          <a:custGeom>
            <a:avLst/>
            <a:gdLst/>
            <a:ahLst/>
            <a:cxnLst/>
            <a:rect l="l" t="t" r="r" b="b"/>
            <a:pathLst>
              <a:path w="1769644" h="1711728">
                <a:moveTo>
                  <a:pt x="0" y="0"/>
                </a:moveTo>
                <a:lnTo>
                  <a:pt x="1769644" y="0"/>
                </a:lnTo>
                <a:lnTo>
                  <a:pt x="1769644" y="1711728"/>
                </a:lnTo>
                <a:lnTo>
                  <a:pt x="0" y="1711728"/>
                </a:lnTo>
                <a:lnTo>
                  <a:pt x="0" y="0"/>
                </a:lnTo>
                <a:close/>
              </a:path>
            </a:pathLst>
          </a:custGeom>
          <a:blipFill>
            <a:blip r:embed="rId4" cstate="print">
              <a:extLst>
                <a:ext uri="{96DAC541-7B7A-43D3-8B79-37D633B846F1}">
                  <asvg:svgBlip xmlns="" xmlns:asvg="http://schemas.microsoft.com/office/drawing/2016/SVG/main" r:embed="rId5"/>
                </a:ext>
              </a:extLst>
            </a:blip>
            <a:stretch>
              <a:fillRect/>
            </a:stretch>
          </a:blipFill>
        </p:spPr>
      </p:sp>
      <p:sp>
        <p:nvSpPr>
          <p:cNvPr id="5" name="TextBox 5"/>
          <p:cNvSpPr txBox="1"/>
          <p:nvPr/>
        </p:nvSpPr>
        <p:spPr>
          <a:xfrm>
            <a:off x="2609930" y="2781300"/>
            <a:ext cx="15678070" cy="6668492"/>
          </a:xfrm>
          <a:prstGeom prst="rect">
            <a:avLst/>
          </a:prstGeom>
        </p:spPr>
        <p:txBody>
          <a:bodyPr wrap="square" lIns="0" tIns="0" rIns="0" bIns="0" rtlCol="0" anchor="t">
            <a:spAutoFit/>
          </a:bodyPr>
          <a:lstStyle/>
          <a:p>
            <a:pPr marL="720557" lvl="1" indent="-360279">
              <a:lnSpc>
                <a:spcPts val="5206"/>
              </a:lnSpc>
            </a:pPr>
            <a:r>
              <a:rPr lang="en-US" sz="3600" dirty="0" smtClean="0">
                <a:solidFill>
                  <a:schemeClr val="bg1"/>
                </a:solidFill>
              </a:rPr>
              <a:t>   </a:t>
            </a:r>
            <a:r>
              <a:rPr lang="en-US" sz="3600" i="1" dirty="0" smtClean="0">
                <a:solidFill>
                  <a:schemeClr val="bg1"/>
                </a:solidFill>
              </a:rPr>
              <a:t>The </a:t>
            </a:r>
            <a:r>
              <a:rPr lang="en-US" sz="3600" i="1" dirty="0" smtClean="0">
                <a:solidFill>
                  <a:schemeClr val="bg1"/>
                </a:solidFill>
              </a:rPr>
              <a:t>first, we would like to express my special thanks of gratitude to my teacher </a:t>
            </a:r>
            <a:r>
              <a:rPr lang="en-US" sz="3600" b="1" i="1" dirty="0" smtClean="0">
                <a:solidFill>
                  <a:schemeClr val="bg1"/>
                </a:solidFill>
              </a:rPr>
              <a:t>SIR HASSAN </a:t>
            </a:r>
            <a:r>
              <a:rPr lang="en-US" sz="3600" i="1" dirty="0" smtClean="0">
                <a:solidFill>
                  <a:schemeClr val="bg1"/>
                </a:solidFill>
              </a:rPr>
              <a:t>who helped a lot in finalizing this project. </a:t>
            </a:r>
            <a:endParaRPr lang="en-US" sz="3600" i="1" dirty="0" smtClean="0">
              <a:solidFill>
                <a:schemeClr val="bg1"/>
              </a:solidFill>
            </a:endParaRPr>
          </a:p>
          <a:p>
            <a:pPr marL="720557" lvl="1" indent="-360279">
              <a:lnSpc>
                <a:spcPts val="5206"/>
              </a:lnSpc>
            </a:pPr>
            <a:endParaRPr lang="en-US" sz="3600" i="1" dirty="0" smtClean="0">
              <a:solidFill>
                <a:schemeClr val="bg1"/>
              </a:solidFill>
            </a:endParaRPr>
          </a:p>
          <a:p>
            <a:pPr marL="720557" lvl="1" indent="-360279">
              <a:lnSpc>
                <a:spcPts val="5206"/>
              </a:lnSpc>
            </a:pPr>
            <a:r>
              <a:rPr lang="en-US" sz="3600" i="1" dirty="0" smtClean="0">
                <a:solidFill>
                  <a:schemeClr val="bg1"/>
                </a:solidFill>
              </a:rPr>
              <a:t> </a:t>
            </a:r>
            <a:r>
              <a:rPr lang="en-US" sz="3600" i="1" dirty="0" smtClean="0">
                <a:solidFill>
                  <a:schemeClr val="bg1"/>
                </a:solidFill>
              </a:rPr>
              <a:t>  Secondly</a:t>
            </a:r>
            <a:r>
              <a:rPr lang="en-US" sz="3600" i="1" dirty="0" smtClean="0">
                <a:solidFill>
                  <a:schemeClr val="bg1"/>
                </a:solidFill>
              </a:rPr>
              <a:t>, we would also like to thanks the e-project team at </a:t>
            </a:r>
            <a:r>
              <a:rPr lang="en-US" sz="3600" b="1" i="1" dirty="0" err="1" smtClean="0">
                <a:solidFill>
                  <a:schemeClr val="bg1"/>
                </a:solidFill>
              </a:rPr>
              <a:t>Aptech</a:t>
            </a:r>
            <a:r>
              <a:rPr lang="en-US" sz="3600" b="1" i="1" dirty="0" smtClean="0">
                <a:solidFill>
                  <a:schemeClr val="bg1"/>
                </a:solidFill>
              </a:rPr>
              <a:t> </a:t>
            </a:r>
            <a:r>
              <a:rPr lang="en-US" sz="3600" i="1" dirty="0" smtClean="0">
                <a:solidFill>
                  <a:schemeClr val="bg1"/>
                </a:solidFill>
              </a:rPr>
              <a:t>Head Office, who gave us the opportunity to do this interesting and wonderful project Courier Management System which name is </a:t>
            </a:r>
            <a:r>
              <a:rPr lang="en-US" sz="3600" b="1" i="1" dirty="0" err="1" smtClean="0">
                <a:solidFill>
                  <a:schemeClr val="bg1"/>
                </a:solidFill>
              </a:rPr>
              <a:t>GoCourier</a:t>
            </a:r>
            <a:r>
              <a:rPr lang="en-US" sz="3600" i="1" dirty="0" smtClean="0">
                <a:solidFill>
                  <a:schemeClr val="bg1"/>
                </a:solidFill>
              </a:rPr>
              <a:t>. </a:t>
            </a:r>
            <a:endParaRPr lang="en-US" sz="3600" i="1" dirty="0" smtClean="0">
              <a:solidFill>
                <a:schemeClr val="bg1"/>
              </a:solidFill>
            </a:endParaRPr>
          </a:p>
          <a:p>
            <a:pPr marL="720557" lvl="1" indent="-360279">
              <a:lnSpc>
                <a:spcPts val="5206"/>
              </a:lnSpc>
            </a:pPr>
            <a:endParaRPr lang="en-US" sz="3600" i="1" dirty="0" smtClean="0">
              <a:solidFill>
                <a:schemeClr val="bg1"/>
              </a:solidFill>
            </a:endParaRPr>
          </a:p>
          <a:p>
            <a:pPr marL="720557" lvl="1" indent="-360279">
              <a:lnSpc>
                <a:spcPts val="5206"/>
              </a:lnSpc>
            </a:pPr>
            <a:r>
              <a:rPr lang="en-US" sz="3600" i="1" dirty="0" smtClean="0">
                <a:solidFill>
                  <a:schemeClr val="bg1"/>
                </a:solidFill>
              </a:rPr>
              <a:t> </a:t>
            </a:r>
            <a:r>
              <a:rPr lang="en-US" sz="3600" i="1" dirty="0" smtClean="0">
                <a:solidFill>
                  <a:schemeClr val="bg1"/>
                </a:solidFill>
              </a:rPr>
              <a:t>   Thirdly</a:t>
            </a:r>
            <a:r>
              <a:rPr lang="en-US" sz="3600" i="1" dirty="0" smtClean="0">
                <a:solidFill>
                  <a:schemeClr val="bg1"/>
                </a:solidFill>
              </a:rPr>
              <a:t>, we also thank the </a:t>
            </a:r>
            <a:r>
              <a:rPr lang="en-US" sz="3600" b="1" i="1" dirty="0" smtClean="0">
                <a:solidFill>
                  <a:schemeClr val="bg1"/>
                </a:solidFill>
              </a:rPr>
              <a:t>e-project</a:t>
            </a:r>
            <a:r>
              <a:rPr lang="en-US" sz="3600" i="1" dirty="0" smtClean="0">
                <a:solidFill>
                  <a:schemeClr val="bg1"/>
                </a:solidFill>
              </a:rPr>
              <a:t> team for giving this task to us</a:t>
            </a:r>
            <a:endParaRPr lang="en-US" sz="3337" i="1" dirty="0">
              <a:solidFill>
                <a:schemeClr val="bg1"/>
              </a:solidFill>
              <a:latin typeface="DM Sans Italics"/>
            </a:endParaRPr>
          </a:p>
          <a:p>
            <a:pPr>
              <a:lnSpc>
                <a:spcPts val="5206"/>
              </a:lnSpc>
            </a:pPr>
            <a:endParaRPr lang="en-US" sz="3337" dirty="0">
              <a:solidFill>
                <a:schemeClr val="bg1"/>
              </a:solidFill>
              <a:latin typeface="DM Sans Italics"/>
            </a:endParaRPr>
          </a:p>
          <a:p>
            <a:pPr>
              <a:lnSpc>
                <a:spcPts val="5206"/>
              </a:lnSpc>
            </a:pPr>
            <a:r>
              <a:rPr lang="en-US" sz="3337" dirty="0">
                <a:solidFill>
                  <a:schemeClr val="bg1"/>
                </a:solidFill>
                <a:latin typeface="DM Sans Italics"/>
              </a:rPr>
              <a:t>   </a:t>
            </a:r>
          </a:p>
        </p:txBody>
      </p:sp>
      <p:sp>
        <p:nvSpPr>
          <p:cNvPr id="6" name="TextBox 6"/>
          <p:cNvSpPr txBox="1"/>
          <p:nvPr/>
        </p:nvSpPr>
        <p:spPr>
          <a:xfrm>
            <a:off x="3276600" y="1638300"/>
            <a:ext cx="6486377" cy="820738"/>
          </a:xfrm>
          <a:prstGeom prst="rect">
            <a:avLst/>
          </a:prstGeom>
        </p:spPr>
        <p:txBody>
          <a:bodyPr wrap="square" lIns="0" tIns="0" rIns="0" bIns="0" rtlCol="0" anchor="t">
            <a:spAutoFit/>
          </a:bodyPr>
          <a:lstStyle/>
          <a:p>
            <a:pPr algn="ctr">
              <a:lnSpc>
                <a:spcPts val="6374"/>
              </a:lnSpc>
            </a:pPr>
            <a:r>
              <a:rPr lang="en-US" sz="6000" b="1" i="1" dirty="0" smtClean="0">
                <a:solidFill>
                  <a:srgbClr val="00B0F0"/>
                </a:solidFill>
              </a:rPr>
              <a:t>Acknowledgement</a:t>
            </a:r>
            <a:r>
              <a:rPr lang="en-US" sz="4800" dirty="0" smtClean="0">
                <a:solidFill>
                  <a:srgbClr val="FFFF00"/>
                </a:solidFill>
              </a:rPr>
              <a:t>:</a:t>
            </a:r>
            <a:endParaRPr lang="en-US" sz="4586" spc="311" dirty="0">
              <a:solidFill>
                <a:srgbClr val="FFFF00"/>
              </a:solidFill>
              <a:latin typeface="Now Bold"/>
            </a:endParaRPr>
          </a:p>
        </p:txBody>
      </p:sp>
      <p:grpSp>
        <p:nvGrpSpPr>
          <p:cNvPr id="7" name="Group 7"/>
          <p:cNvGrpSpPr/>
          <p:nvPr/>
        </p:nvGrpSpPr>
        <p:grpSpPr>
          <a:xfrm>
            <a:off x="16017180" y="-1431186"/>
            <a:ext cx="3656258" cy="365625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48AFF">
                    <a:alpha val="100000"/>
                  </a:srgbClr>
                </a:gs>
                <a:gs pos="100000">
                  <a:srgbClr val="B100E8">
                    <a:alpha val="100000"/>
                  </a:srgbClr>
                </a:gs>
              </a:gsLst>
              <a:path path="circle">
                <a:fillToRect r="100000" b="100000"/>
              </a:path>
              <a:tileRect l="-100000" t="-100000"/>
            </a:gradFill>
          </p:spPr>
        </p:sp>
        <p:sp>
          <p:nvSpPr>
            <p:cNvPr id="9" name="TextBox 9"/>
            <p:cNvSpPr txBox="1"/>
            <p:nvPr/>
          </p:nvSpPr>
          <p:spPr>
            <a:xfrm>
              <a:off x="76200" y="66675"/>
              <a:ext cx="660400" cy="669925"/>
            </a:xfrm>
            <a:prstGeom prst="rect">
              <a:avLst/>
            </a:prstGeom>
          </p:spPr>
          <p:txBody>
            <a:bodyPr lIns="50800" tIns="50800" rIns="50800" bIns="50800" rtlCol="0" anchor="ctr"/>
            <a:lstStyle/>
            <a:p>
              <a:pPr algn="ctr">
                <a:lnSpc>
                  <a:spcPts val="3131"/>
                </a:lnSpc>
              </a:pPr>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cstate="print"/>
            <a:stretch>
              <a:fillRect t="-38888" b="-38888"/>
            </a:stretch>
          </a:blipFill>
        </p:spPr>
      </p:sp>
      <p:sp>
        <p:nvSpPr>
          <p:cNvPr id="3" name="Freeform 3"/>
          <p:cNvSpPr/>
          <p:nvPr/>
        </p:nvSpPr>
        <p:spPr>
          <a:xfrm>
            <a:off x="-689719" y="-1276542"/>
            <a:ext cx="2556280" cy="2553085"/>
          </a:xfrm>
          <a:custGeom>
            <a:avLst/>
            <a:gdLst/>
            <a:ahLst/>
            <a:cxnLst/>
            <a:rect l="l" t="t" r="r" b="b"/>
            <a:pathLst>
              <a:path w="2556280" h="2553085">
                <a:moveTo>
                  <a:pt x="0" y="0"/>
                </a:moveTo>
                <a:lnTo>
                  <a:pt x="2556280" y="0"/>
                </a:lnTo>
                <a:lnTo>
                  <a:pt x="2556280" y="2553084"/>
                </a:lnTo>
                <a:lnTo>
                  <a:pt x="0" y="2553084"/>
                </a:lnTo>
                <a:lnTo>
                  <a:pt x="0" y="0"/>
                </a:lnTo>
                <a:close/>
              </a:path>
            </a:pathLst>
          </a:custGeom>
          <a:blipFill>
            <a:blip r:embed="rId3" cstate="print"/>
            <a:stretch>
              <a:fillRect/>
            </a:stretch>
          </a:blipFill>
        </p:spPr>
      </p:sp>
      <p:sp>
        <p:nvSpPr>
          <p:cNvPr id="4" name="Freeform 4"/>
          <p:cNvSpPr/>
          <p:nvPr/>
        </p:nvSpPr>
        <p:spPr>
          <a:xfrm>
            <a:off x="7584476" y="8616204"/>
            <a:ext cx="4010261" cy="4005248"/>
          </a:xfrm>
          <a:custGeom>
            <a:avLst/>
            <a:gdLst/>
            <a:ahLst/>
            <a:cxnLst/>
            <a:rect l="l" t="t" r="r" b="b"/>
            <a:pathLst>
              <a:path w="4010261" h="4005248">
                <a:moveTo>
                  <a:pt x="0" y="0"/>
                </a:moveTo>
                <a:lnTo>
                  <a:pt x="4010261" y="0"/>
                </a:lnTo>
                <a:lnTo>
                  <a:pt x="4010261" y="4005248"/>
                </a:lnTo>
                <a:lnTo>
                  <a:pt x="0" y="4005248"/>
                </a:lnTo>
                <a:lnTo>
                  <a:pt x="0" y="0"/>
                </a:lnTo>
                <a:close/>
              </a:path>
            </a:pathLst>
          </a:custGeom>
          <a:blipFill>
            <a:blip r:embed="rId4" cstate="print"/>
            <a:stretch>
              <a:fillRect/>
            </a:stretch>
          </a:blipFill>
        </p:spPr>
      </p:sp>
      <p:sp>
        <p:nvSpPr>
          <p:cNvPr id="5" name="TextBox 5"/>
          <p:cNvSpPr txBox="1"/>
          <p:nvPr/>
        </p:nvSpPr>
        <p:spPr>
          <a:xfrm>
            <a:off x="1219200" y="1104900"/>
            <a:ext cx="7445528" cy="923330"/>
          </a:xfrm>
          <a:prstGeom prst="rect">
            <a:avLst/>
          </a:prstGeom>
        </p:spPr>
        <p:txBody>
          <a:bodyPr lIns="0" tIns="0" rIns="0" bIns="0" rtlCol="0" anchor="t">
            <a:spAutoFit/>
          </a:bodyPr>
          <a:lstStyle/>
          <a:p>
            <a:pPr>
              <a:lnSpc>
                <a:spcPts val="7173"/>
              </a:lnSpc>
            </a:pPr>
            <a:r>
              <a:rPr lang="en-US" sz="6600" b="1" i="1" dirty="0" smtClean="0">
                <a:solidFill>
                  <a:srgbClr val="00B0F0"/>
                </a:solidFill>
              </a:rPr>
              <a:t>Introduction</a:t>
            </a:r>
            <a:r>
              <a:rPr lang="en-US" sz="6000" b="1" i="1" dirty="0" smtClean="0">
                <a:solidFill>
                  <a:srgbClr val="00B0F0"/>
                </a:solidFill>
              </a:rPr>
              <a:t>:</a:t>
            </a:r>
            <a:endParaRPr lang="en-US" sz="5400" b="1" i="1" dirty="0">
              <a:solidFill>
                <a:srgbClr val="00B0F0"/>
              </a:solidFill>
              <a:latin typeface="Now Bold"/>
            </a:endParaRPr>
          </a:p>
        </p:txBody>
      </p:sp>
      <p:sp>
        <p:nvSpPr>
          <p:cNvPr id="6" name="TextBox 6"/>
          <p:cNvSpPr txBox="1"/>
          <p:nvPr/>
        </p:nvSpPr>
        <p:spPr>
          <a:xfrm>
            <a:off x="0" y="2324100"/>
            <a:ext cx="16612665" cy="6195350"/>
          </a:xfrm>
          <a:prstGeom prst="rect">
            <a:avLst/>
          </a:prstGeom>
        </p:spPr>
        <p:txBody>
          <a:bodyPr lIns="0" tIns="0" rIns="0" bIns="0" rtlCol="0" anchor="t">
            <a:spAutoFit/>
          </a:bodyPr>
          <a:lstStyle/>
          <a:p>
            <a:pPr marL="651344" lvl="1" indent="-325672">
              <a:lnSpc>
                <a:spcPts val="4404"/>
              </a:lnSpc>
            </a:pPr>
            <a:r>
              <a:rPr lang="en-US" sz="3600" i="1" dirty="0" smtClean="0">
                <a:solidFill>
                  <a:schemeClr val="bg1"/>
                </a:solidFill>
              </a:rPr>
              <a:t>   The </a:t>
            </a:r>
            <a:r>
              <a:rPr lang="en-US" sz="3600" i="1" dirty="0" smtClean="0">
                <a:solidFill>
                  <a:schemeClr val="bg1"/>
                </a:solidFill>
              </a:rPr>
              <a:t>Courier Management System web application which name is </a:t>
            </a:r>
            <a:r>
              <a:rPr lang="en-US" sz="3600" b="1" i="1" dirty="0" err="1" smtClean="0">
                <a:solidFill>
                  <a:schemeClr val="bg1"/>
                </a:solidFill>
              </a:rPr>
              <a:t>GoCourier</a:t>
            </a:r>
            <a:r>
              <a:rPr lang="en-US" sz="3600" i="1" dirty="0" smtClean="0">
                <a:solidFill>
                  <a:schemeClr val="bg1"/>
                </a:solidFill>
              </a:rPr>
              <a:t> developed with the powerful </a:t>
            </a:r>
            <a:r>
              <a:rPr lang="en-US" sz="3600" i="1" dirty="0" err="1" smtClean="0">
                <a:solidFill>
                  <a:schemeClr val="bg1"/>
                </a:solidFill>
              </a:rPr>
              <a:t>Laravel</a:t>
            </a:r>
            <a:r>
              <a:rPr lang="en-US" sz="3600" i="1" dirty="0" smtClean="0">
                <a:solidFill>
                  <a:schemeClr val="bg1"/>
                </a:solidFill>
              </a:rPr>
              <a:t> framework. Courier management system is currently handled manually by the </a:t>
            </a:r>
            <a:r>
              <a:rPr lang="en-US" sz="3600" i="1" dirty="0" smtClean="0">
                <a:solidFill>
                  <a:schemeClr val="bg1"/>
                </a:solidFill>
              </a:rPr>
              <a:t>organization </a:t>
            </a:r>
            <a:r>
              <a:rPr lang="en-US" sz="3600" i="1" dirty="0" smtClean="0">
                <a:solidFill>
                  <a:schemeClr val="bg1"/>
                </a:solidFill>
              </a:rPr>
              <a:t>and facing various challenges in maintaining records and providing information to it’s customers. Tracking and handling of couriers is becoming tedious for the organization.</a:t>
            </a:r>
            <a:endParaRPr lang="en-US" sz="3600" i="1" dirty="0">
              <a:solidFill>
                <a:schemeClr val="bg1"/>
              </a:solidFill>
              <a:latin typeface="DM Sans"/>
            </a:endParaRPr>
          </a:p>
          <a:p>
            <a:pPr>
              <a:lnSpc>
                <a:spcPts val="4404"/>
              </a:lnSpc>
            </a:pPr>
            <a:r>
              <a:rPr lang="en-US" sz="3600" i="1" dirty="0">
                <a:solidFill>
                  <a:schemeClr val="bg1"/>
                </a:solidFill>
                <a:latin typeface="DM Sans"/>
              </a:rPr>
              <a:t>                        </a:t>
            </a:r>
          </a:p>
          <a:p>
            <a:pPr marL="651344" lvl="1" indent="-325672">
              <a:lnSpc>
                <a:spcPts val="4404"/>
              </a:lnSpc>
            </a:pPr>
            <a:r>
              <a:rPr lang="en-US" sz="3600" i="1" dirty="0" smtClean="0">
                <a:solidFill>
                  <a:schemeClr val="bg1"/>
                </a:solidFill>
              </a:rPr>
              <a:t>   As </a:t>
            </a:r>
            <a:r>
              <a:rPr lang="en-US" sz="3600" i="1" dirty="0" smtClean="0">
                <a:solidFill>
                  <a:schemeClr val="bg1"/>
                </a:solidFill>
              </a:rPr>
              <a:t>we navigate through the features and functionalities of our Courier Management System (</a:t>
            </a:r>
            <a:r>
              <a:rPr lang="en-US" sz="3600" b="1" i="1" dirty="0" err="1" smtClean="0">
                <a:solidFill>
                  <a:schemeClr val="bg1"/>
                </a:solidFill>
              </a:rPr>
              <a:t>GoCourier</a:t>
            </a:r>
            <a:r>
              <a:rPr lang="en-US" sz="3600" i="1" dirty="0" smtClean="0">
                <a:solidFill>
                  <a:schemeClr val="bg1"/>
                </a:solidFill>
              </a:rPr>
              <a:t>), I will shed light on why it is not just a tool but a necessity in the current online landscape. We'll explore how it optimizes operations, enhances customer experiences, and adapts seamlessly to the demands of a rapidly evolving market.</a:t>
            </a:r>
            <a:endParaRPr lang="en-US" sz="3600" i="1" dirty="0">
              <a:solidFill>
                <a:schemeClr val="bg1"/>
              </a:solidFill>
              <a:latin typeface="DM Sans"/>
            </a:endParaRPr>
          </a:p>
        </p:txBody>
      </p:sp>
      <p:sp>
        <p:nvSpPr>
          <p:cNvPr id="7" name="Freeform 7"/>
          <p:cNvSpPr/>
          <p:nvPr/>
        </p:nvSpPr>
        <p:spPr>
          <a:xfrm>
            <a:off x="-914400" y="86487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5" cstate="print">
              <a:alphaModFix amt="67000"/>
              <a:extLst>
                <a:ext uri="{96DAC541-7B7A-43D3-8B79-37D633B846F1}">
                  <asvg:svgBlip xmlns="" xmlns:asvg="http://schemas.microsoft.com/office/drawing/2016/SVG/main" r:embed="rId6"/>
                </a:ext>
              </a:extLst>
            </a:blip>
            <a:stretch>
              <a:fillRect/>
            </a:stretch>
          </a:blipFill>
        </p:spPr>
      </p:sp>
      <p:sp>
        <p:nvSpPr>
          <p:cNvPr id="8" name="Freeform 8"/>
          <p:cNvSpPr/>
          <p:nvPr/>
        </p:nvSpPr>
        <p:spPr>
          <a:xfrm>
            <a:off x="14792965" y="-4982246"/>
            <a:ext cx="8083465" cy="8073361"/>
          </a:xfrm>
          <a:custGeom>
            <a:avLst/>
            <a:gdLst/>
            <a:ahLst/>
            <a:cxnLst/>
            <a:rect l="l" t="t" r="r" b="b"/>
            <a:pathLst>
              <a:path w="8083465" h="8073361">
                <a:moveTo>
                  <a:pt x="0" y="0"/>
                </a:moveTo>
                <a:lnTo>
                  <a:pt x="8083465" y="0"/>
                </a:lnTo>
                <a:lnTo>
                  <a:pt x="8083465" y="8073361"/>
                </a:lnTo>
                <a:lnTo>
                  <a:pt x="0" y="8073361"/>
                </a:lnTo>
                <a:lnTo>
                  <a:pt x="0" y="0"/>
                </a:lnTo>
                <a:close/>
              </a:path>
            </a:pathLst>
          </a:custGeom>
          <a:blipFill>
            <a:blip r:embed="rId7" cstate="print"/>
            <a:stretch>
              <a:fillRect/>
            </a:stretch>
          </a:blipFill>
        </p:spPr>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cstate="print"/>
            <a:stretch>
              <a:fillRect t="-38888" b="-38888"/>
            </a:stretch>
          </a:blipFill>
        </p:spPr>
      </p:sp>
      <p:sp>
        <p:nvSpPr>
          <p:cNvPr id="3" name="TextBox 3"/>
          <p:cNvSpPr txBox="1"/>
          <p:nvPr/>
        </p:nvSpPr>
        <p:spPr>
          <a:xfrm>
            <a:off x="2483960" y="414814"/>
            <a:ext cx="14127640" cy="1025922"/>
          </a:xfrm>
          <a:prstGeom prst="rect">
            <a:avLst/>
          </a:prstGeom>
        </p:spPr>
        <p:txBody>
          <a:bodyPr wrap="square" lIns="0" tIns="0" rIns="0" bIns="0" rtlCol="0" anchor="t">
            <a:spAutoFit/>
          </a:bodyPr>
          <a:lstStyle/>
          <a:p>
            <a:pPr lvl="0">
              <a:lnSpc>
                <a:spcPts val="7981"/>
              </a:lnSpc>
              <a:spcBef>
                <a:spcPct val="0"/>
              </a:spcBef>
            </a:pPr>
            <a:r>
              <a:rPr lang="en-US" sz="6600" b="1" i="1" dirty="0" smtClean="0">
                <a:solidFill>
                  <a:srgbClr val="00B0F0"/>
                </a:solidFill>
              </a:rPr>
              <a:t>Key Features of the Web Application </a:t>
            </a:r>
            <a:endParaRPr lang="en-US" sz="6000" b="1" i="1" dirty="0">
              <a:solidFill>
                <a:srgbClr val="00B0F0"/>
              </a:solidFill>
              <a:latin typeface="Now Bold"/>
            </a:endParaRPr>
          </a:p>
        </p:txBody>
      </p:sp>
      <p:sp>
        <p:nvSpPr>
          <p:cNvPr id="4" name="Freeform 4"/>
          <p:cNvSpPr/>
          <p:nvPr/>
        </p:nvSpPr>
        <p:spPr>
          <a:xfrm>
            <a:off x="-9624129" y="3750591"/>
            <a:ext cx="17894953" cy="17894953"/>
          </a:xfrm>
          <a:custGeom>
            <a:avLst/>
            <a:gdLst/>
            <a:ahLst/>
            <a:cxnLst/>
            <a:rect l="l" t="t" r="r" b="b"/>
            <a:pathLst>
              <a:path w="17894953" h="17894953">
                <a:moveTo>
                  <a:pt x="0" y="0"/>
                </a:moveTo>
                <a:lnTo>
                  <a:pt x="17894952" y="0"/>
                </a:lnTo>
                <a:lnTo>
                  <a:pt x="17894952" y="17894953"/>
                </a:lnTo>
                <a:lnTo>
                  <a:pt x="0" y="17894953"/>
                </a:lnTo>
                <a:lnTo>
                  <a:pt x="0" y="0"/>
                </a:lnTo>
                <a:close/>
              </a:path>
            </a:pathLst>
          </a:custGeom>
          <a:blipFill>
            <a:blip r:embed="rId3" cstate="print">
              <a:extLst>
                <a:ext uri="{96DAC541-7B7A-43D3-8B79-37D633B846F1}">
                  <asvg:svgBlip xmlns="" xmlns:asvg="http://schemas.microsoft.com/office/drawing/2016/SVG/main" r:embed="rId4"/>
                </a:ext>
              </a:extLst>
            </a:blip>
            <a:stretch>
              <a:fillRect/>
            </a:stretch>
          </a:blipFill>
        </p:spPr>
      </p:sp>
      <p:sp>
        <p:nvSpPr>
          <p:cNvPr id="5" name="Freeform 5"/>
          <p:cNvSpPr/>
          <p:nvPr/>
        </p:nvSpPr>
        <p:spPr>
          <a:xfrm>
            <a:off x="-824620" y="-1132633"/>
            <a:ext cx="3308580" cy="3304444"/>
          </a:xfrm>
          <a:custGeom>
            <a:avLst/>
            <a:gdLst/>
            <a:ahLst/>
            <a:cxnLst/>
            <a:rect l="l" t="t" r="r" b="b"/>
            <a:pathLst>
              <a:path w="3308580" h="3304444">
                <a:moveTo>
                  <a:pt x="0" y="0"/>
                </a:moveTo>
                <a:lnTo>
                  <a:pt x="3308580" y="0"/>
                </a:lnTo>
                <a:lnTo>
                  <a:pt x="3308580" y="3304444"/>
                </a:lnTo>
                <a:lnTo>
                  <a:pt x="0" y="3304444"/>
                </a:lnTo>
                <a:lnTo>
                  <a:pt x="0" y="0"/>
                </a:lnTo>
                <a:close/>
              </a:path>
            </a:pathLst>
          </a:custGeom>
          <a:blipFill>
            <a:blip r:embed="rId5" cstate="print"/>
            <a:stretch>
              <a:fillRect/>
            </a:stretch>
          </a:blipFill>
        </p:spPr>
      </p:sp>
      <p:sp>
        <p:nvSpPr>
          <p:cNvPr id="6" name="Freeform 6"/>
          <p:cNvSpPr/>
          <p:nvPr/>
        </p:nvSpPr>
        <p:spPr>
          <a:xfrm>
            <a:off x="16633710" y="8634778"/>
            <a:ext cx="3308580" cy="3304444"/>
          </a:xfrm>
          <a:custGeom>
            <a:avLst/>
            <a:gdLst/>
            <a:ahLst/>
            <a:cxnLst/>
            <a:rect l="l" t="t" r="r" b="b"/>
            <a:pathLst>
              <a:path w="3308580" h="3304444">
                <a:moveTo>
                  <a:pt x="0" y="0"/>
                </a:moveTo>
                <a:lnTo>
                  <a:pt x="3308580" y="0"/>
                </a:lnTo>
                <a:lnTo>
                  <a:pt x="3308580" y="3304444"/>
                </a:lnTo>
                <a:lnTo>
                  <a:pt x="0" y="3304444"/>
                </a:lnTo>
                <a:lnTo>
                  <a:pt x="0" y="0"/>
                </a:lnTo>
                <a:close/>
              </a:path>
            </a:pathLst>
          </a:custGeom>
          <a:blipFill>
            <a:blip r:embed="rId5" cstate="print"/>
            <a:stretch>
              <a:fillRect/>
            </a:stretch>
          </a:blipFill>
        </p:spPr>
      </p:sp>
      <p:sp>
        <p:nvSpPr>
          <p:cNvPr id="7" name="TextBox 7"/>
          <p:cNvSpPr txBox="1"/>
          <p:nvPr/>
        </p:nvSpPr>
        <p:spPr>
          <a:xfrm>
            <a:off x="1600200" y="4991100"/>
            <a:ext cx="15026879" cy="982385"/>
          </a:xfrm>
          <a:prstGeom prst="rect">
            <a:avLst/>
          </a:prstGeom>
        </p:spPr>
        <p:txBody>
          <a:bodyPr lIns="0" tIns="0" rIns="0" bIns="0" rtlCol="0" anchor="t">
            <a:spAutoFit/>
          </a:bodyPr>
          <a:lstStyle/>
          <a:p>
            <a:pPr marL="0" lvl="1" indent="0">
              <a:lnSpc>
                <a:spcPts val="3755"/>
              </a:lnSpc>
              <a:spcBef>
                <a:spcPct val="0"/>
              </a:spcBef>
            </a:pPr>
            <a:r>
              <a:rPr lang="en-US" sz="3600" i="1" dirty="0" smtClean="0">
                <a:solidFill>
                  <a:schemeClr val="bg1"/>
                </a:solidFill>
              </a:rPr>
              <a:t>Experience intuitiveness with a user-friendly interface designed for optimal user engagement and operational efficiency.</a:t>
            </a:r>
            <a:endParaRPr lang="en-US" sz="3323" i="1" dirty="0">
              <a:solidFill>
                <a:schemeClr val="bg1"/>
              </a:solidFill>
              <a:latin typeface="DM Sans"/>
            </a:endParaRPr>
          </a:p>
        </p:txBody>
      </p:sp>
      <p:sp>
        <p:nvSpPr>
          <p:cNvPr id="8" name="TextBox 8"/>
          <p:cNvSpPr txBox="1"/>
          <p:nvPr/>
        </p:nvSpPr>
        <p:spPr>
          <a:xfrm>
            <a:off x="1600200" y="1943100"/>
            <a:ext cx="7880905" cy="889154"/>
          </a:xfrm>
          <a:prstGeom prst="rect">
            <a:avLst/>
          </a:prstGeom>
        </p:spPr>
        <p:txBody>
          <a:bodyPr lIns="0" tIns="0" rIns="0" bIns="0" rtlCol="0" anchor="t">
            <a:spAutoFit/>
          </a:bodyPr>
          <a:lstStyle/>
          <a:p>
            <a:pPr lvl="0">
              <a:lnSpc>
                <a:spcPts val="7382"/>
              </a:lnSpc>
              <a:spcBef>
                <a:spcPct val="0"/>
              </a:spcBef>
            </a:pPr>
            <a:r>
              <a:rPr lang="en-US" sz="4400" b="1" i="1" dirty="0" smtClean="0">
                <a:solidFill>
                  <a:srgbClr val="00B0F0"/>
                </a:solidFill>
              </a:rPr>
              <a:t>User Authentication:</a:t>
            </a:r>
            <a:endParaRPr lang="en-US" sz="4400" b="1" i="1" u="sng" dirty="0">
              <a:solidFill>
                <a:srgbClr val="00B0F0"/>
              </a:solidFill>
              <a:latin typeface="Now Bold"/>
            </a:endParaRPr>
          </a:p>
        </p:txBody>
      </p:sp>
      <p:sp>
        <p:nvSpPr>
          <p:cNvPr id="9" name="TextBox 9"/>
          <p:cNvSpPr txBox="1"/>
          <p:nvPr/>
        </p:nvSpPr>
        <p:spPr>
          <a:xfrm>
            <a:off x="1600200" y="3924300"/>
            <a:ext cx="7475197" cy="721672"/>
          </a:xfrm>
          <a:prstGeom prst="rect">
            <a:avLst/>
          </a:prstGeom>
        </p:spPr>
        <p:txBody>
          <a:bodyPr lIns="0" tIns="0" rIns="0" bIns="0" rtlCol="0" anchor="t">
            <a:spAutoFit/>
          </a:bodyPr>
          <a:lstStyle/>
          <a:p>
            <a:pPr lvl="0">
              <a:lnSpc>
                <a:spcPts val="5985"/>
              </a:lnSpc>
              <a:spcBef>
                <a:spcPct val="0"/>
              </a:spcBef>
            </a:pPr>
            <a:r>
              <a:rPr lang="en-US" sz="4400" b="1" i="1" dirty="0" smtClean="0">
                <a:solidFill>
                  <a:srgbClr val="00B0F0"/>
                </a:solidFill>
              </a:rPr>
              <a:t>User-Friendly Interface</a:t>
            </a:r>
            <a:endParaRPr lang="en-US" sz="4305" b="1" i="1" u="sng" dirty="0">
              <a:solidFill>
                <a:srgbClr val="00B0F0"/>
              </a:solidFill>
              <a:latin typeface="Now Bold"/>
            </a:endParaRPr>
          </a:p>
        </p:txBody>
      </p:sp>
      <p:sp>
        <p:nvSpPr>
          <p:cNvPr id="10" name="TextBox 10"/>
          <p:cNvSpPr txBox="1"/>
          <p:nvPr/>
        </p:nvSpPr>
        <p:spPr>
          <a:xfrm>
            <a:off x="1600200" y="3009900"/>
            <a:ext cx="15582900" cy="847733"/>
          </a:xfrm>
          <a:prstGeom prst="rect">
            <a:avLst/>
          </a:prstGeom>
        </p:spPr>
        <p:txBody>
          <a:bodyPr wrap="square" lIns="0" tIns="0" rIns="0" bIns="0" rtlCol="0" anchor="t">
            <a:spAutoFit/>
          </a:bodyPr>
          <a:lstStyle/>
          <a:p>
            <a:pPr marL="0" lvl="1" indent="0">
              <a:lnSpc>
                <a:spcPts val="3202"/>
              </a:lnSpc>
              <a:spcBef>
                <a:spcPct val="0"/>
              </a:spcBef>
            </a:pPr>
            <a:r>
              <a:rPr lang="en-US" sz="3600" i="1" dirty="0" smtClean="0">
                <a:solidFill>
                  <a:schemeClr val="bg1"/>
                </a:solidFill>
              </a:rPr>
              <a:t>Secure </a:t>
            </a:r>
            <a:r>
              <a:rPr lang="en-US" sz="3600" i="1" dirty="0" smtClean="0">
                <a:solidFill>
                  <a:schemeClr val="bg1"/>
                </a:solidFill>
              </a:rPr>
              <a:t>user registration and login functionality for administrators, couriers, and </a:t>
            </a:r>
            <a:r>
              <a:rPr lang="en-US" sz="3600" i="1" dirty="0" smtClean="0">
                <a:solidFill>
                  <a:schemeClr val="bg1"/>
                </a:solidFill>
              </a:rPr>
              <a:t>customers.</a:t>
            </a:r>
            <a:endParaRPr lang="en-US" sz="3600" i="1" dirty="0">
              <a:solidFill>
                <a:schemeClr val="bg1"/>
              </a:solidFill>
              <a:latin typeface="DM Sans"/>
            </a:endParaRPr>
          </a:p>
        </p:txBody>
      </p:sp>
      <p:sp>
        <p:nvSpPr>
          <p:cNvPr id="11" name="TextBox 11"/>
          <p:cNvSpPr txBox="1"/>
          <p:nvPr/>
        </p:nvSpPr>
        <p:spPr>
          <a:xfrm>
            <a:off x="1524000" y="5905500"/>
            <a:ext cx="6455197" cy="788999"/>
          </a:xfrm>
          <a:prstGeom prst="rect">
            <a:avLst/>
          </a:prstGeom>
        </p:spPr>
        <p:txBody>
          <a:bodyPr lIns="0" tIns="0" rIns="0" bIns="0" rtlCol="0" anchor="t">
            <a:spAutoFit/>
          </a:bodyPr>
          <a:lstStyle/>
          <a:p>
            <a:pPr lvl="0">
              <a:lnSpc>
                <a:spcPts val="6737"/>
              </a:lnSpc>
              <a:spcBef>
                <a:spcPct val="0"/>
              </a:spcBef>
            </a:pPr>
            <a:r>
              <a:rPr lang="en-US" sz="4400" b="1" i="1" dirty="0" smtClean="0">
                <a:solidFill>
                  <a:srgbClr val="00B0F0"/>
                </a:solidFill>
              </a:rPr>
              <a:t>Admin Dashboard:</a:t>
            </a:r>
            <a:endParaRPr lang="en-US" sz="4400" b="1" i="1" u="sng" dirty="0">
              <a:solidFill>
                <a:srgbClr val="00B0F0"/>
              </a:solidFill>
              <a:latin typeface="Now Bold"/>
            </a:endParaRPr>
          </a:p>
        </p:txBody>
      </p:sp>
      <p:sp>
        <p:nvSpPr>
          <p:cNvPr id="12" name="TextBox 12"/>
          <p:cNvSpPr txBox="1"/>
          <p:nvPr/>
        </p:nvSpPr>
        <p:spPr>
          <a:xfrm>
            <a:off x="1524000" y="6972300"/>
            <a:ext cx="15082582" cy="1469698"/>
          </a:xfrm>
          <a:prstGeom prst="rect">
            <a:avLst/>
          </a:prstGeom>
        </p:spPr>
        <p:txBody>
          <a:bodyPr lIns="0" tIns="0" rIns="0" bIns="0" rtlCol="0" anchor="t">
            <a:spAutoFit/>
          </a:bodyPr>
          <a:lstStyle/>
          <a:p>
            <a:pPr marL="0" lvl="1" indent="0">
              <a:lnSpc>
                <a:spcPts val="3755"/>
              </a:lnSpc>
              <a:spcBef>
                <a:spcPct val="0"/>
              </a:spcBef>
            </a:pPr>
            <a:r>
              <a:rPr lang="en-US" sz="3600" i="1" dirty="0" smtClean="0">
                <a:solidFill>
                  <a:schemeClr val="bg1"/>
                </a:solidFill>
              </a:rPr>
              <a:t>An intuitive dashboard for administrators to get an overview of the entire courier system, including recent activities, pending orders, and approved orders, denied orders.</a:t>
            </a:r>
            <a:endParaRPr lang="en-US" sz="3323" i="1" dirty="0">
              <a:solidFill>
                <a:schemeClr val="bg1"/>
              </a:solidFill>
              <a:latin typeface="DM San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cstate="print"/>
            <a:stretch>
              <a:fillRect t="-38888" b="-38888"/>
            </a:stretch>
          </a:blipFill>
        </p:spPr>
      </p:sp>
      <p:sp>
        <p:nvSpPr>
          <p:cNvPr id="4" name="Freeform 4"/>
          <p:cNvSpPr/>
          <p:nvPr/>
        </p:nvSpPr>
        <p:spPr>
          <a:xfrm>
            <a:off x="-9624129" y="3750591"/>
            <a:ext cx="17894953" cy="17894953"/>
          </a:xfrm>
          <a:custGeom>
            <a:avLst/>
            <a:gdLst/>
            <a:ahLst/>
            <a:cxnLst/>
            <a:rect l="l" t="t" r="r" b="b"/>
            <a:pathLst>
              <a:path w="17894953" h="17894953">
                <a:moveTo>
                  <a:pt x="0" y="0"/>
                </a:moveTo>
                <a:lnTo>
                  <a:pt x="17894952" y="0"/>
                </a:lnTo>
                <a:lnTo>
                  <a:pt x="17894952" y="17894953"/>
                </a:lnTo>
                <a:lnTo>
                  <a:pt x="0" y="17894953"/>
                </a:lnTo>
                <a:lnTo>
                  <a:pt x="0" y="0"/>
                </a:lnTo>
                <a:close/>
              </a:path>
            </a:pathLst>
          </a:custGeom>
          <a:blipFill>
            <a:blip r:embed="rId3" cstate="print">
              <a:extLst>
                <a:ext uri="{96DAC541-7B7A-43D3-8B79-37D633B846F1}">
                  <asvg:svgBlip xmlns="" xmlns:asvg="http://schemas.microsoft.com/office/drawing/2016/SVG/main" r:embed="rId4"/>
                </a:ext>
              </a:extLst>
            </a:blip>
            <a:stretch>
              <a:fillRect/>
            </a:stretch>
          </a:blipFill>
        </p:spPr>
      </p:sp>
      <p:sp>
        <p:nvSpPr>
          <p:cNvPr id="5" name="Freeform 5"/>
          <p:cNvSpPr/>
          <p:nvPr/>
        </p:nvSpPr>
        <p:spPr>
          <a:xfrm>
            <a:off x="-824620" y="-1132633"/>
            <a:ext cx="3308580" cy="3304444"/>
          </a:xfrm>
          <a:custGeom>
            <a:avLst/>
            <a:gdLst/>
            <a:ahLst/>
            <a:cxnLst/>
            <a:rect l="l" t="t" r="r" b="b"/>
            <a:pathLst>
              <a:path w="3308580" h="3304444">
                <a:moveTo>
                  <a:pt x="0" y="0"/>
                </a:moveTo>
                <a:lnTo>
                  <a:pt x="3308580" y="0"/>
                </a:lnTo>
                <a:lnTo>
                  <a:pt x="3308580" y="3304444"/>
                </a:lnTo>
                <a:lnTo>
                  <a:pt x="0" y="3304444"/>
                </a:lnTo>
                <a:lnTo>
                  <a:pt x="0" y="0"/>
                </a:lnTo>
                <a:close/>
              </a:path>
            </a:pathLst>
          </a:custGeom>
          <a:blipFill>
            <a:blip r:embed="rId5" cstate="print"/>
            <a:stretch>
              <a:fillRect/>
            </a:stretch>
          </a:blipFill>
        </p:spPr>
      </p:sp>
      <p:sp>
        <p:nvSpPr>
          <p:cNvPr id="6" name="Freeform 6"/>
          <p:cNvSpPr/>
          <p:nvPr/>
        </p:nvSpPr>
        <p:spPr>
          <a:xfrm>
            <a:off x="16633710" y="8634778"/>
            <a:ext cx="3308580" cy="3304444"/>
          </a:xfrm>
          <a:custGeom>
            <a:avLst/>
            <a:gdLst/>
            <a:ahLst/>
            <a:cxnLst/>
            <a:rect l="l" t="t" r="r" b="b"/>
            <a:pathLst>
              <a:path w="3308580" h="3304444">
                <a:moveTo>
                  <a:pt x="0" y="0"/>
                </a:moveTo>
                <a:lnTo>
                  <a:pt x="3308580" y="0"/>
                </a:lnTo>
                <a:lnTo>
                  <a:pt x="3308580" y="3304444"/>
                </a:lnTo>
                <a:lnTo>
                  <a:pt x="0" y="3304444"/>
                </a:lnTo>
                <a:lnTo>
                  <a:pt x="0" y="0"/>
                </a:lnTo>
                <a:close/>
              </a:path>
            </a:pathLst>
          </a:custGeom>
          <a:blipFill>
            <a:blip r:embed="rId5" cstate="print"/>
            <a:stretch>
              <a:fillRect/>
            </a:stretch>
          </a:blipFill>
        </p:spPr>
      </p:sp>
      <p:sp>
        <p:nvSpPr>
          <p:cNvPr id="7" name="TextBox 7"/>
          <p:cNvSpPr txBox="1"/>
          <p:nvPr/>
        </p:nvSpPr>
        <p:spPr>
          <a:xfrm>
            <a:off x="1600200" y="4991100"/>
            <a:ext cx="15026879" cy="982385"/>
          </a:xfrm>
          <a:prstGeom prst="rect">
            <a:avLst/>
          </a:prstGeom>
        </p:spPr>
        <p:txBody>
          <a:bodyPr lIns="0" tIns="0" rIns="0" bIns="0" rtlCol="0" anchor="t">
            <a:spAutoFit/>
          </a:bodyPr>
          <a:lstStyle/>
          <a:p>
            <a:pPr marL="0" lvl="1" indent="0">
              <a:lnSpc>
                <a:spcPts val="3755"/>
              </a:lnSpc>
              <a:spcBef>
                <a:spcPct val="0"/>
              </a:spcBef>
            </a:pPr>
            <a:r>
              <a:rPr lang="en-US" sz="3600" i="1" dirty="0" smtClean="0">
                <a:solidFill>
                  <a:schemeClr val="bg1"/>
                </a:solidFill>
              </a:rPr>
              <a:t>Can track orders and viewing order history, print their track orders and view status of their order.</a:t>
            </a:r>
            <a:endParaRPr lang="en-US" sz="3323" i="1" dirty="0">
              <a:solidFill>
                <a:schemeClr val="bg1"/>
              </a:solidFill>
              <a:latin typeface="DM Sans"/>
            </a:endParaRPr>
          </a:p>
        </p:txBody>
      </p:sp>
      <p:sp>
        <p:nvSpPr>
          <p:cNvPr id="8" name="TextBox 8"/>
          <p:cNvSpPr txBox="1"/>
          <p:nvPr/>
        </p:nvSpPr>
        <p:spPr>
          <a:xfrm>
            <a:off x="1600200" y="1943100"/>
            <a:ext cx="7880905" cy="856325"/>
          </a:xfrm>
          <a:prstGeom prst="rect">
            <a:avLst/>
          </a:prstGeom>
        </p:spPr>
        <p:txBody>
          <a:bodyPr lIns="0" tIns="0" rIns="0" bIns="0" rtlCol="0" anchor="t">
            <a:spAutoFit/>
          </a:bodyPr>
          <a:lstStyle/>
          <a:p>
            <a:pPr lvl="0">
              <a:lnSpc>
                <a:spcPts val="7382"/>
              </a:lnSpc>
              <a:spcBef>
                <a:spcPct val="0"/>
              </a:spcBef>
            </a:pPr>
            <a:r>
              <a:rPr lang="en-US" sz="4400" b="1" i="1" dirty="0" smtClean="0">
                <a:solidFill>
                  <a:srgbClr val="00B0F0"/>
                </a:solidFill>
              </a:rPr>
              <a:t>Order Management:</a:t>
            </a:r>
            <a:endParaRPr lang="en-US" sz="4400" b="1" i="1" u="sng" dirty="0">
              <a:solidFill>
                <a:srgbClr val="00B0F0"/>
              </a:solidFill>
              <a:latin typeface="Now Bold"/>
            </a:endParaRPr>
          </a:p>
        </p:txBody>
      </p:sp>
      <p:sp>
        <p:nvSpPr>
          <p:cNvPr id="9" name="TextBox 9"/>
          <p:cNvSpPr txBox="1"/>
          <p:nvPr/>
        </p:nvSpPr>
        <p:spPr>
          <a:xfrm>
            <a:off x="1600200" y="3924300"/>
            <a:ext cx="7475197" cy="721672"/>
          </a:xfrm>
          <a:prstGeom prst="rect">
            <a:avLst/>
          </a:prstGeom>
        </p:spPr>
        <p:txBody>
          <a:bodyPr lIns="0" tIns="0" rIns="0" bIns="0" rtlCol="0" anchor="t">
            <a:spAutoFit/>
          </a:bodyPr>
          <a:lstStyle/>
          <a:p>
            <a:pPr lvl="0">
              <a:lnSpc>
                <a:spcPts val="5985"/>
              </a:lnSpc>
              <a:spcBef>
                <a:spcPct val="0"/>
              </a:spcBef>
            </a:pPr>
            <a:r>
              <a:rPr lang="en-US" sz="4400" b="1" i="1" dirty="0" smtClean="0">
                <a:solidFill>
                  <a:srgbClr val="00B0F0"/>
                </a:solidFill>
              </a:rPr>
              <a:t>Users:</a:t>
            </a:r>
            <a:endParaRPr lang="en-US" sz="4305" b="1" i="1" u="sng" dirty="0">
              <a:solidFill>
                <a:srgbClr val="00B0F0"/>
              </a:solidFill>
              <a:latin typeface="Now Bold"/>
            </a:endParaRPr>
          </a:p>
        </p:txBody>
      </p:sp>
      <p:sp>
        <p:nvSpPr>
          <p:cNvPr id="10" name="TextBox 10"/>
          <p:cNvSpPr txBox="1"/>
          <p:nvPr/>
        </p:nvSpPr>
        <p:spPr>
          <a:xfrm>
            <a:off x="1600200" y="3009900"/>
            <a:ext cx="15582900" cy="847733"/>
          </a:xfrm>
          <a:prstGeom prst="rect">
            <a:avLst/>
          </a:prstGeom>
        </p:spPr>
        <p:txBody>
          <a:bodyPr wrap="square" lIns="0" tIns="0" rIns="0" bIns="0" rtlCol="0" anchor="t">
            <a:spAutoFit/>
          </a:bodyPr>
          <a:lstStyle/>
          <a:p>
            <a:pPr marL="0" lvl="1" indent="0">
              <a:lnSpc>
                <a:spcPts val="3202"/>
              </a:lnSpc>
              <a:spcBef>
                <a:spcPct val="0"/>
              </a:spcBef>
            </a:pPr>
            <a:r>
              <a:rPr lang="en-US" sz="3600" i="1" dirty="0" smtClean="0">
                <a:solidFill>
                  <a:schemeClr val="bg1"/>
                </a:solidFill>
              </a:rPr>
              <a:t>Easy order creation, tracking, and management. Assigning tracking id to track specific couriers. </a:t>
            </a:r>
            <a:r>
              <a:rPr lang="en-US" sz="3600" i="1" dirty="0" err="1" smtClean="0">
                <a:solidFill>
                  <a:schemeClr val="bg1"/>
                </a:solidFill>
              </a:rPr>
              <a:t>Realtime</a:t>
            </a:r>
            <a:r>
              <a:rPr lang="en-US" sz="3600" i="1" dirty="0" smtClean="0">
                <a:solidFill>
                  <a:schemeClr val="bg1"/>
                </a:solidFill>
              </a:rPr>
              <a:t> status updates on orders.</a:t>
            </a:r>
            <a:endParaRPr lang="en-US" sz="3600" i="1" dirty="0">
              <a:solidFill>
                <a:schemeClr val="bg1"/>
              </a:solidFill>
              <a:latin typeface="DM Sans"/>
            </a:endParaRPr>
          </a:p>
        </p:txBody>
      </p:sp>
      <p:sp>
        <p:nvSpPr>
          <p:cNvPr id="11" name="TextBox 11"/>
          <p:cNvSpPr txBox="1"/>
          <p:nvPr/>
        </p:nvSpPr>
        <p:spPr>
          <a:xfrm>
            <a:off x="1524000" y="5905500"/>
            <a:ext cx="6455197" cy="859210"/>
          </a:xfrm>
          <a:prstGeom prst="rect">
            <a:avLst/>
          </a:prstGeom>
        </p:spPr>
        <p:txBody>
          <a:bodyPr lIns="0" tIns="0" rIns="0" bIns="0" rtlCol="0" anchor="t">
            <a:spAutoFit/>
          </a:bodyPr>
          <a:lstStyle/>
          <a:p>
            <a:pPr lvl="0">
              <a:lnSpc>
                <a:spcPts val="6737"/>
              </a:lnSpc>
              <a:spcBef>
                <a:spcPct val="0"/>
              </a:spcBef>
            </a:pPr>
            <a:r>
              <a:rPr lang="en-US" sz="4400" b="1" i="1" dirty="0" smtClean="0">
                <a:solidFill>
                  <a:srgbClr val="00B0F0"/>
                </a:solidFill>
              </a:rPr>
              <a:t>Agent Dashboard</a:t>
            </a:r>
            <a:r>
              <a:rPr lang="en-US" sz="4400" b="1" i="1" dirty="0" smtClean="0">
                <a:solidFill>
                  <a:srgbClr val="00B0F0"/>
                </a:solidFill>
              </a:rPr>
              <a:t>:</a:t>
            </a:r>
            <a:endParaRPr lang="en-US" sz="4400" b="1" i="1" u="sng" dirty="0">
              <a:solidFill>
                <a:srgbClr val="00B0F0"/>
              </a:solidFill>
              <a:latin typeface="Now Bold"/>
            </a:endParaRPr>
          </a:p>
        </p:txBody>
      </p:sp>
      <p:sp>
        <p:nvSpPr>
          <p:cNvPr id="12" name="TextBox 12"/>
          <p:cNvSpPr txBox="1"/>
          <p:nvPr/>
        </p:nvSpPr>
        <p:spPr>
          <a:xfrm>
            <a:off x="1524000" y="6972300"/>
            <a:ext cx="15082582" cy="982385"/>
          </a:xfrm>
          <a:prstGeom prst="rect">
            <a:avLst/>
          </a:prstGeom>
        </p:spPr>
        <p:txBody>
          <a:bodyPr lIns="0" tIns="0" rIns="0" bIns="0" rtlCol="0" anchor="t">
            <a:spAutoFit/>
          </a:bodyPr>
          <a:lstStyle/>
          <a:p>
            <a:pPr marL="0" lvl="1" indent="0">
              <a:lnSpc>
                <a:spcPts val="3755"/>
              </a:lnSpc>
              <a:spcBef>
                <a:spcPct val="0"/>
              </a:spcBef>
            </a:pPr>
            <a:r>
              <a:rPr lang="en-US" sz="3600" i="1" dirty="0" smtClean="0">
                <a:solidFill>
                  <a:schemeClr val="bg1"/>
                </a:solidFill>
              </a:rPr>
              <a:t>An intuitive dashboard for agents to get an overview of the entire courier system , add couriers, view their orders.</a:t>
            </a:r>
            <a:endParaRPr lang="en-US" sz="3323" i="1" dirty="0">
              <a:solidFill>
                <a:schemeClr val="bg1"/>
              </a:solidFill>
              <a:latin typeface="DM Sans"/>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cstate="print"/>
            <a:stretch>
              <a:fillRect t="-38888" b="-38888"/>
            </a:stretch>
          </a:blipFill>
        </p:spPr>
      </p:sp>
      <p:sp>
        <p:nvSpPr>
          <p:cNvPr id="3" name="TextBox 3"/>
          <p:cNvSpPr txBox="1"/>
          <p:nvPr/>
        </p:nvSpPr>
        <p:spPr>
          <a:xfrm>
            <a:off x="2483960" y="414814"/>
            <a:ext cx="14127640" cy="986296"/>
          </a:xfrm>
          <a:prstGeom prst="rect">
            <a:avLst/>
          </a:prstGeom>
        </p:spPr>
        <p:txBody>
          <a:bodyPr wrap="square" lIns="0" tIns="0" rIns="0" bIns="0" rtlCol="0" anchor="t">
            <a:spAutoFit/>
          </a:bodyPr>
          <a:lstStyle/>
          <a:p>
            <a:pPr lvl="0">
              <a:lnSpc>
                <a:spcPts val="7981"/>
              </a:lnSpc>
              <a:spcBef>
                <a:spcPct val="0"/>
              </a:spcBef>
            </a:pPr>
            <a:r>
              <a:rPr lang="en-US" sz="6600" b="1" i="1" dirty="0" smtClean="0">
                <a:solidFill>
                  <a:srgbClr val="00B0F0"/>
                </a:solidFill>
              </a:rPr>
              <a:t>User Roles And Permissions:</a:t>
            </a:r>
            <a:endParaRPr lang="en-US" sz="6000" b="1" i="1" dirty="0">
              <a:solidFill>
                <a:srgbClr val="00B0F0"/>
              </a:solidFill>
              <a:latin typeface="Now Bold"/>
            </a:endParaRPr>
          </a:p>
        </p:txBody>
      </p:sp>
      <p:sp>
        <p:nvSpPr>
          <p:cNvPr id="4" name="Freeform 4"/>
          <p:cNvSpPr/>
          <p:nvPr/>
        </p:nvSpPr>
        <p:spPr>
          <a:xfrm>
            <a:off x="-9677400" y="4152900"/>
            <a:ext cx="17894953" cy="17894953"/>
          </a:xfrm>
          <a:custGeom>
            <a:avLst/>
            <a:gdLst/>
            <a:ahLst/>
            <a:cxnLst/>
            <a:rect l="l" t="t" r="r" b="b"/>
            <a:pathLst>
              <a:path w="17894953" h="17894953">
                <a:moveTo>
                  <a:pt x="0" y="0"/>
                </a:moveTo>
                <a:lnTo>
                  <a:pt x="17894952" y="0"/>
                </a:lnTo>
                <a:lnTo>
                  <a:pt x="17894952" y="17894953"/>
                </a:lnTo>
                <a:lnTo>
                  <a:pt x="0" y="17894953"/>
                </a:lnTo>
                <a:lnTo>
                  <a:pt x="0" y="0"/>
                </a:lnTo>
                <a:close/>
              </a:path>
            </a:pathLst>
          </a:custGeom>
          <a:blipFill>
            <a:blip r:embed="rId3" cstate="print">
              <a:extLst>
                <a:ext uri="{96DAC541-7B7A-43D3-8B79-37D633B846F1}">
                  <asvg:svgBlip xmlns="" xmlns:asvg="http://schemas.microsoft.com/office/drawing/2016/SVG/main" r:embed="rId4"/>
                </a:ext>
              </a:extLst>
            </a:blip>
            <a:stretch>
              <a:fillRect/>
            </a:stretch>
          </a:blipFill>
        </p:spPr>
      </p:sp>
      <p:sp>
        <p:nvSpPr>
          <p:cNvPr id="5" name="Freeform 5"/>
          <p:cNvSpPr/>
          <p:nvPr/>
        </p:nvSpPr>
        <p:spPr>
          <a:xfrm>
            <a:off x="-824620" y="-1132633"/>
            <a:ext cx="3308580" cy="3304444"/>
          </a:xfrm>
          <a:custGeom>
            <a:avLst/>
            <a:gdLst/>
            <a:ahLst/>
            <a:cxnLst/>
            <a:rect l="l" t="t" r="r" b="b"/>
            <a:pathLst>
              <a:path w="3308580" h="3304444">
                <a:moveTo>
                  <a:pt x="0" y="0"/>
                </a:moveTo>
                <a:lnTo>
                  <a:pt x="3308580" y="0"/>
                </a:lnTo>
                <a:lnTo>
                  <a:pt x="3308580" y="3304444"/>
                </a:lnTo>
                <a:lnTo>
                  <a:pt x="0" y="3304444"/>
                </a:lnTo>
                <a:lnTo>
                  <a:pt x="0" y="0"/>
                </a:lnTo>
                <a:close/>
              </a:path>
            </a:pathLst>
          </a:custGeom>
          <a:blipFill>
            <a:blip r:embed="rId5" cstate="print"/>
            <a:stretch>
              <a:fillRect/>
            </a:stretch>
          </a:blipFill>
        </p:spPr>
      </p:sp>
      <p:sp>
        <p:nvSpPr>
          <p:cNvPr id="6" name="Freeform 6"/>
          <p:cNvSpPr/>
          <p:nvPr/>
        </p:nvSpPr>
        <p:spPr>
          <a:xfrm>
            <a:off x="16633710" y="8634778"/>
            <a:ext cx="3308580" cy="3304444"/>
          </a:xfrm>
          <a:custGeom>
            <a:avLst/>
            <a:gdLst/>
            <a:ahLst/>
            <a:cxnLst/>
            <a:rect l="l" t="t" r="r" b="b"/>
            <a:pathLst>
              <a:path w="3308580" h="3304444">
                <a:moveTo>
                  <a:pt x="0" y="0"/>
                </a:moveTo>
                <a:lnTo>
                  <a:pt x="3308580" y="0"/>
                </a:lnTo>
                <a:lnTo>
                  <a:pt x="3308580" y="3304444"/>
                </a:lnTo>
                <a:lnTo>
                  <a:pt x="0" y="3304444"/>
                </a:lnTo>
                <a:lnTo>
                  <a:pt x="0" y="0"/>
                </a:lnTo>
                <a:close/>
              </a:path>
            </a:pathLst>
          </a:custGeom>
          <a:blipFill>
            <a:blip r:embed="rId5" cstate="print"/>
            <a:stretch>
              <a:fillRect/>
            </a:stretch>
          </a:blipFill>
        </p:spPr>
      </p:sp>
      <p:sp>
        <p:nvSpPr>
          <p:cNvPr id="7" name="TextBox 7"/>
          <p:cNvSpPr txBox="1"/>
          <p:nvPr/>
        </p:nvSpPr>
        <p:spPr>
          <a:xfrm>
            <a:off x="1600200" y="5295900"/>
            <a:ext cx="15026879" cy="982385"/>
          </a:xfrm>
          <a:prstGeom prst="rect">
            <a:avLst/>
          </a:prstGeom>
        </p:spPr>
        <p:txBody>
          <a:bodyPr lIns="0" tIns="0" rIns="0" bIns="0" rtlCol="0" anchor="t">
            <a:spAutoFit/>
          </a:bodyPr>
          <a:lstStyle/>
          <a:p>
            <a:pPr marL="0" lvl="1" indent="0">
              <a:lnSpc>
                <a:spcPts val="3755"/>
              </a:lnSpc>
              <a:spcBef>
                <a:spcPct val="0"/>
              </a:spcBef>
            </a:pPr>
            <a:r>
              <a:rPr lang="en-US" sz="3600" i="1" dirty="0" smtClean="0">
                <a:solidFill>
                  <a:schemeClr val="bg1"/>
                </a:solidFill>
              </a:rPr>
              <a:t>Agents manage day-to-day operations, can add new couriers, send all couriers to admin as a pending couriers, view their approved couriers orders.</a:t>
            </a:r>
            <a:endParaRPr lang="en-US" sz="3323" i="1" dirty="0">
              <a:solidFill>
                <a:schemeClr val="bg1"/>
              </a:solidFill>
              <a:latin typeface="DM Sans"/>
            </a:endParaRPr>
          </a:p>
        </p:txBody>
      </p:sp>
      <p:sp>
        <p:nvSpPr>
          <p:cNvPr id="8" name="TextBox 8"/>
          <p:cNvSpPr txBox="1"/>
          <p:nvPr/>
        </p:nvSpPr>
        <p:spPr>
          <a:xfrm>
            <a:off x="1600200" y="1943100"/>
            <a:ext cx="7880905" cy="889154"/>
          </a:xfrm>
          <a:prstGeom prst="rect">
            <a:avLst/>
          </a:prstGeom>
        </p:spPr>
        <p:txBody>
          <a:bodyPr lIns="0" tIns="0" rIns="0" bIns="0" rtlCol="0" anchor="t">
            <a:spAutoFit/>
          </a:bodyPr>
          <a:lstStyle/>
          <a:p>
            <a:pPr lvl="0">
              <a:lnSpc>
                <a:spcPts val="7382"/>
              </a:lnSpc>
              <a:spcBef>
                <a:spcPct val="0"/>
              </a:spcBef>
            </a:pPr>
            <a:r>
              <a:rPr lang="en-US" sz="4400" b="1" i="1" dirty="0" smtClean="0">
                <a:solidFill>
                  <a:srgbClr val="00B0F0"/>
                </a:solidFill>
              </a:rPr>
              <a:t>Admin:</a:t>
            </a:r>
            <a:endParaRPr lang="en-US" sz="4400" b="1" i="1" u="sng" dirty="0">
              <a:solidFill>
                <a:srgbClr val="00B0F0"/>
              </a:solidFill>
              <a:latin typeface="Now Bold"/>
            </a:endParaRPr>
          </a:p>
        </p:txBody>
      </p:sp>
      <p:sp>
        <p:nvSpPr>
          <p:cNvPr id="9" name="TextBox 9"/>
          <p:cNvSpPr txBox="1"/>
          <p:nvPr/>
        </p:nvSpPr>
        <p:spPr>
          <a:xfrm>
            <a:off x="1600200" y="4381500"/>
            <a:ext cx="7475197" cy="721672"/>
          </a:xfrm>
          <a:prstGeom prst="rect">
            <a:avLst/>
          </a:prstGeom>
        </p:spPr>
        <p:txBody>
          <a:bodyPr lIns="0" tIns="0" rIns="0" bIns="0" rtlCol="0" anchor="t">
            <a:spAutoFit/>
          </a:bodyPr>
          <a:lstStyle/>
          <a:p>
            <a:pPr lvl="0">
              <a:lnSpc>
                <a:spcPts val="5985"/>
              </a:lnSpc>
              <a:spcBef>
                <a:spcPct val="0"/>
              </a:spcBef>
            </a:pPr>
            <a:r>
              <a:rPr lang="en-US" sz="4400" b="1" i="1" dirty="0" smtClean="0">
                <a:solidFill>
                  <a:srgbClr val="00B0F0"/>
                </a:solidFill>
              </a:rPr>
              <a:t>Agent:</a:t>
            </a:r>
            <a:endParaRPr lang="en-US" sz="4305" b="1" i="1" u="sng" dirty="0">
              <a:solidFill>
                <a:srgbClr val="00B0F0"/>
              </a:solidFill>
              <a:latin typeface="Now Bold"/>
            </a:endParaRPr>
          </a:p>
        </p:txBody>
      </p:sp>
      <p:sp>
        <p:nvSpPr>
          <p:cNvPr id="10" name="TextBox 10"/>
          <p:cNvSpPr txBox="1"/>
          <p:nvPr/>
        </p:nvSpPr>
        <p:spPr>
          <a:xfrm>
            <a:off x="1600200" y="3009900"/>
            <a:ext cx="15582900" cy="1258101"/>
          </a:xfrm>
          <a:prstGeom prst="rect">
            <a:avLst/>
          </a:prstGeom>
        </p:spPr>
        <p:txBody>
          <a:bodyPr wrap="square" lIns="0" tIns="0" rIns="0" bIns="0" rtlCol="0" anchor="t">
            <a:spAutoFit/>
          </a:bodyPr>
          <a:lstStyle/>
          <a:p>
            <a:pPr marL="0" lvl="1" indent="0">
              <a:lnSpc>
                <a:spcPts val="3202"/>
              </a:lnSpc>
              <a:spcBef>
                <a:spcPct val="0"/>
              </a:spcBef>
            </a:pPr>
            <a:r>
              <a:rPr lang="en-US" sz="3600" i="1" dirty="0" smtClean="0">
                <a:solidFill>
                  <a:schemeClr val="bg1"/>
                </a:solidFill>
              </a:rPr>
              <a:t>Full system control with access to all settings, user accounts, can register agents, add couriers, view pending couriers, can approve and cancel these pending couriers, view contact details and track specific couriers.</a:t>
            </a:r>
            <a:endParaRPr lang="en-US" sz="3600" i="1" dirty="0">
              <a:solidFill>
                <a:schemeClr val="bg1"/>
              </a:solidFill>
              <a:latin typeface="DM Sans"/>
            </a:endParaRPr>
          </a:p>
        </p:txBody>
      </p:sp>
      <p:sp>
        <p:nvSpPr>
          <p:cNvPr id="11" name="TextBox 11"/>
          <p:cNvSpPr txBox="1"/>
          <p:nvPr/>
        </p:nvSpPr>
        <p:spPr>
          <a:xfrm>
            <a:off x="1447800" y="6438900"/>
            <a:ext cx="6455197" cy="788999"/>
          </a:xfrm>
          <a:prstGeom prst="rect">
            <a:avLst/>
          </a:prstGeom>
        </p:spPr>
        <p:txBody>
          <a:bodyPr lIns="0" tIns="0" rIns="0" bIns="0" rtlCol="0" anchor="t">
            <a:spAutoFit/>
          </a:bodyPr>
          <a:lstStyle/>
          <a:p>
            <a:pPr lvl="0">
              <a:lnSpc>
                <a:spcPts val="6737"/>
              </a:lnSpc>
              <a:spcBef>
                <a:spcPct val="0"/>
              </a:spcBef>
            </a:pPr>
            <a:r>
              <a:rPr lang="en-US" sz="4400" b="1" i="1" dirty="0" smtClean="0">
                <a:solidFill>
                  <a:srgbClr val="00B0F0"/>
                </a:solidFill>
              </a:rPr>
              <a:t>Users:</a:t>
            </a:r>
            <a:endParaRPr lang="en-US" sz="4400" b="1" i="1" u="sng" dirty="0">
              <a:solidFill>
                <a:srgbClr val="00B0F0"/>
              </a:solidFill>
              <a:latin typeface="Now Bold"/>
            </a:endParaRPr>
          </a:p>
        </p:txBody>
      </p:sp>
      <p:sp>
        <p:nvSpPr>
          <p:cNvPr id="12" name="TextBox 12"/>
          <p:cNvSpPr txBox="1"/>
          <p:nvPr/>
        </p:nvSpPr>
        <p:spPr>
          <a:xfrm>
            <a:off x="1524000" y="7581900"/>
            <a:ext cx="15082582" cy="1469698"/>
          </a:xfrm>
          <a:prstGeom prst="rect">
            <a:avLst/>
          </a:prstGeom>
        </p:spPr>
        <p:txBody>
          <a:bodyPr lIns="0" tIns="0" rIns="0" bIns="0" rtlCol="0" anchor="t">
            <a:spAutoFit/>
          </a:bodyPr>
          <a:lstStyle/>
          <a:p>
            <a:pPr marL="0" lvl="1" indent="0">
              <a:lnSpc>
                <a:spcPts val="3755"/>
              </a:lnSpc>
              <a:spcBef>
                <a:spcPct val="0"/>
              </a:spcBef>
            </a:pPr>
            <a:r>
              <a:rPr lang="en-US" sz="3600" i="1" dirty="0" smtClean="0">
                <a:solidFill>
                  <a:schemeClr val="bg1"/>
                </a:solidFill>
              </a:rPr>
              <a:t>Customers enjoy a user-friendly web application can register their selves and track orders with their tracking id and can view their order history and can print, can share their message or feedback by contact us form</a:t>
            </a:r>
            <a:endParaRPr lang="en-US" sz="3323" i="1" dirty="0">
              <a:solidFill>
                <a:schemeClr val="bg1"/>
              </a:solidFill>
              <a:latin typeface="DM San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cstate="print"/>
            <a:stretch>
              <a:fillRect t="-38888" b="-38888"/>
            </a:stretch>
          </a:blipFill>
        </p:spPr>
      </p:sp>
      <p:sp>
        <p:nvSpPr>
          <p:cNvPr id="3" name="Freeform 3"/>
          <p:cNvSpPr/>
          <p:nvPr/>
        </p:nvSpPr>
        <p:spPr>
          <a:xfrm>
            <a:off x="15431023" y="7619197"/>
            <a:ext cx="1469330" cy="1421243"/>
          </a:xfrm>
          <a:custGeom>
            <a:avLst/>
            <a:gdLst/>
            <a:ahLst/>
            <a:cxnLst/>
            <a:rect l="l" t="t" r="r" b="b"/>
            <a:pathLst>
              <a:path w="1469330" h="1421243">
                <a:moveTo>
                  <a:pt x="0" y="0"/>
                </a:moveTo>
                <a:lnTo>
                  <a:pt x="1469331" y="0"/>
                </a:lnTo>
                <a:lnTo>
                  <a:pt x="1469331" y="1421243"/>
                </a:lnTo>
                <a:lnTo>
                  <a:pt x="0" y="1421243"/>
                </a:lnTo>
                <a:lnTo>
                  <a:pt x="0" y="0"/>
                </a:lnTo>
                <a:close/>
              </a:path>
            </a:pathLst>
          </a:custGeom>
          <a:blipFill>
            <a:blip r:embed="rId3" cstate="print">
              <a:extLst>
                <a:ext uri="{96DAC541-7B7A-43D3-8B79-37D633B846F1}">
                  <asvg:svgBlip xmlns="" xmlns:asvg="http://schemas.microsoft.com/office/drawing/2016/SVG/main" r:embed="rId4"/>
                </a:ext>
              </a:extLst>
            </a:blip>
            <a:stretch>
              <a:fillRect/>
            </a:stretch>
          </a:blipFill>
        </p:spPr>
      </p:sp>
      <p:sp>
        <p:nvSpPr>
          <p:cNvPr id="4" name="Freeform 4"/>
          <p:cNvSpPr/>
          <p:nvPr/>
        </p:nvSpPr>
        <p:spPr>
          <a:xfrm>
            <a:off x="-2368424" y="7867652"/>
            <a:ext cx="5257108" cy="5250537"/>
          </a:xfrm>
          <a:custGeom>
            <a:avLst/>
            <a:gdLst/>
            <a:ahLst/>
            <a:cxnLst/>
            <a:rect l="l" t="t" r="r" b="b"/>
            <a:pathLst>
              <a:path w="5257108" h="5250537">
                <a:moveTo>
                  <a:pt x="0" y="0"/>
                </a:moveTo>
                <a:lnTo>
                  <a:pt x="5257108" y="0"/>
                </a:lnTo>
                <a:lnTo>
                  <a:pt x="5257108" y="5250536"/>
                </a:lnTo>
                <a:lnTo>
                  <a:pt x="0" y="5250536"/>
                </a:lnTo>
                <a:lnTo>
                  <a:pt x="0" y="0"/>
                </a:lnTo>
                <a:close/>
              </a:path>
            </a:pathLst>
          </a:custGeom>
          <a:blipFill>
            <a:blip r:embed="rId5" cstate="print"/>
            <a:stretch>
              <a:fillRect/>
            </a:stretch>
          </a:blipFill>
        </p:spPr>
      </p:sp>
      <p:sp>
        <p:nvSpPr>
          <p:cNvPr id="5" name="Freeform 5"/>
          <p:cNvSpPr/>
          <p:nvPr/>
        </p:nvSpPr>
        <p:spPr>
          <a:xfrm>
            <a:off x="15431023" y="-2171348"/>
            <a:ext cx="5257108" cy="5250537"/>
          </a:xfrm>
          <a:custGeom>
            <a:avLst/>
            <a:gdLst/>
            <a:ahLst/>
            <a:cxnLst/>
            <a:rect l="l" t="t" r="r" b="b"/>
            <a:pathLst>
              <a:path w="5257108" h="5250537">
                <a:moveTo>
                  <a:pt x="0" y="0"/>
                </a:moveTo>
                <a:lnTo>
                  <a:pt x="5257108" y="0"/>
                </a:lnTo>
                <a:lnTo>
                  <a:pt x="5257108" y="5250537"/>
                </a:lnTo>
                <a:lnTo>
                  <a:pt x="0" y="5250537"/>
                </a:lnTo>
                <a:lnTo>
                  <a:pt x="0" y="0"/>
                </a:lnTo>
                <a:close/>
              </a:path>
            </a:pathLst>
          </a:custGeom>
          <a:blipFill>
            <a:blip r:embed="rId5" cstate="print"/>
            <a:stretch>
              <a:fillRect/>
            </a:stretch>
          </a:blipFill>
        </p:spPr>
      </p:sp>
      <p:sp>
        <p:nvSpPr>
          <p:cNvPr id="6" name="Freeform 6"/>
          <p:cNvSpPr/>
          <p:nvPr/>
        </p:nvSpPr>
        <p:spPr>
          <a:xfrm>
            <a:off x="-1028700" y="-1866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cstate="print">
              <a:alphaModFix amt="67000"/>
              <a:extLst>
                <a:ext uri="{96DAC541-7B7A-43D3-8B79-37D633B846F1}">
                  <asvg:svgBlip xmlns="" xmlns:asvg="http://schemas.microsoft.com/office/drawing/2016/SVG/main" r:embed="rId7"/>
                </a:ext>
              </a:extLst>
            </a:blip>
            <a:stretch>
              <a:fillRect/>
            </a:stretch>
          </a:blipFill>
        </p:spPr>
      </p:sp>
      <p:sp>
        <p:nvSpPr>
          <p:cNvPr id="8" name="TextBox 7"/>
          <p:cNvSpPr txBox="1"/>
          <p:nvPr/>
        </p:nvSpPr>
        <p:spPr>
          <a:xfrm>
            <a:off x="2438400" y="2095500"/>
            <a:ext cx="13411200" cy="6740307"/>
          </a:xfrm>
          <a:prstGeom prst="rect">
            <a:avLst/>
          </a:prstGeom>
          <a:noFill/>
        </p:spPr>
        <p:txBody>
          <a:bodyPr wrap="square" rtlCol="0">
            <a:spAutoFit/>
          </a:bodyPr>
          <a:lstStyle/>
          <a:p>
            <a:r>
              <a:rPr lang="en-US" sz="3600" i="1" dirty="0" smtClean="0">
                <a:solidFill>
                  <a:schemeClr val="bg1"/>
                </a:solidFill>
              </a:rPr>
              <a:t>To popularize our </a:t>
            </a:r>
            <a:r>
              <a:rPr lang="en-US" sz="3600" b="1" i="1" dirty="0" err="1" smtClean="0">
                <a:solidFill>
                  <a:schemeClr val="bg1"/>
                </a:solidFill>
              </a:rPr>
              <a:t>GoCourier</a:t>
            </a:r>
            <a:r>
              <a:rPr lang="en-US" sz="3600" i="1" dirty="0" smtClean="0">
                <a:solidFill>
                  <a:schemeClr val="bg1"/>
                </a:solidFill>
              </a:rPr>
              <a:t> Web Application, We have listed out the few points which we want to be their in our web app</a:t>
            </a:r>
            <a:r>
              <a:rPr lang="en-US" sz="3600" i="1" dirty="0" smtClean="0">
                <a:solidFill>
                  <a:schemeClr val="bg1"/>
                </a:solidFill>
              </a:rPr>
              <a:t>.</a:t>
            </a:r>
          </a:p>
          <a:p>
            <a:endParaRPr lang="en-US" sz="3600" i="1" dirty="0" smtClean="0">
              <a:solidFill>
                <a:schemeClr val="bg1"/>
              </a:solidFill>
            </a:endParaRPr>
          </a:p>
          <a:p>
            <a:r>
              <a:rPr lang="en-US" sz="3600" b="1" i="1" dirty="0" smtClean="0">
                <a:solidFill>
                  <a:schemeClr val="bg1"/>
                </a:solidFill>
              </a:rPr>
              <a:t>Admin </a:t>
            </a:r>
            <a:r>
              <a:rPr lang="en-US" sz="3600" b="1" i="1" dirty="0" smtClean="0">
                <a:solidFill>
                  <a:schemeClr val="bg1"/>
                </a:solidFill>
              </a:rPr>
              <a:t>Login: </a:t>
            </a:r>
            <a:r>
              <a:rPr lang="en-US" sz="3600" i="1" dirty="0" smtClean="0">
                <a:solidFill>
                  <a:schemeClr val="bg1"/>
                </a:solidFill>
              </a:rPr>
              <a:t>Admin will have his/her own login details (username, password) to access the system. </a:t>
            </a:r>
            <a:endParaRPr lang="en-US" sz="3600" i="1" dirty="0" smtClean="0">
              <a:solidFill>
                <a:schemeClr val="bg1"/>
              </a:solidFill>
            </a:endParaRPr>
          </a:p>
          <a:p>
            <a:endParaRPr lang="en-US" sz="3600" i="1" dirty="0" smtClean="0">
              <a:solidFill>
                <a:schemeClr val="bg1"/>
              </a:solidFill>
            </a:endParaRPr>
          </a:p>
          <a:p>
            <a:r>
              <a:rPr lang="en-US" sz="3600" b="1" i="1" dirty="0" smtClean="0">
                <a:solidFill>
                  <a:schemeClr val="bg1"/>
                </a:solidFill>
              </a:rPr>
              <a:t>Admin </a:t>
            </a:r>
            <a:r>
              <a:rPr lang="en-US" sz="3600" b="1" i="1" dirty="0" smtClean="0">
                <a:solidFill>
                  <a:schemeClr val="bg1"/>
                </a:solidFill>
              </a:rPr>
              <a:t>- Agent </a:t>
            </a:r>
            <a:r>
              <a:rPr lang="en-US" sz="3600" i="1" dirty="0" smtClean="0">
                <a:solidFill>
                  <a:schemeClr val="bg1"/>
                </a:solidFill>
              </a:rPr>
              <a:t>can create a Courier Bill after logging in. Bills contain the details of sender, receiver, courier type, delivery date</a:t>
            </a:r>
            <a:r>
              <a:rPr lang="en-US" sz="3600" i="1" dirty="0" smtClean="0">
                <a:solidFill>
                  <a:schemeClr val="bg1"/>
                </a:solidFill>
              </a:rPr>
              <a:t>.</a:t>
            </a:r>
          </a:p>
          <a:p>
            <a:endParaRPr lang="en-US" sz="3600" i="1" dirty="0" smtClean="0">
              <a:solidFill>
                <a:schemeClr val="bg1"/>
              </a:solidFill>
            </a:endParaRPr>
          </a:p>
          <a:p>
            <a:r>
              <a:rPr lang="en-US" sz="3600" b="1" i="1" dirty="0" smtClean="0">
                <a:solidFill>
                  <a:schemeClr val="bg1"/>
                </a:solidFill>
              </a:rPr>
              <a:t>Update </a:t>
            </a:r>
            <a:r>
              <a:rPr lang="en-US" sz="3600" b="1" i="1" dirty="0" smtClean="0">
                <a:solidFill>
                  <a:schemeClr val="bg1"/>
                </a:solidFill>
              </a:rPr>
              <a:t>bill– Admin , Agent </a:t>
            </a:r>
            <a:r>
              <a:rPr lang="en-US" sz="3600" i="1" dirty="0" smtClean="0">
                <a:solidFill>
                  <a:schemeClr val="bg1"/>
                </a:solidFill>
              </a:rPr>
              <a:t>they can also update the Bill with the entries and if there is any modification. Agent can view the list of details of their courier. </a:t>
            </a:r>
            <a:endParaRPr lang="en-US" sz="3600" i="1" dirty="0" smtClean="0">
              <a:solidFill>
                <a:schemeClr val="bg1"/>
              </a:solidFill>
            </a:endParaRPr>
          </a:p>
        </p:txBody>
      </p:sp>
      <p:sp>
        <p:nvSpPr>
          <p:cNvPr id="9" name="TextBox 8"/>
          <p:cNvSpPr txBox="1"/>
          <p:nvPr/>
        </p:nvSpPr>
        <p:spPr>
          <a:xfrm>
            <a:off x="2514600" y="876300"/>
            <a:ext cx="7880905" cy="889154"/>
          </a:xfrm>
          <a:prstGeom prst="rect">
            <a:avLst/>
          </a:prstGeom>
        </p:spPr>
        <p:txBody>
          <a:bodyPr lIns="0" tIns="0" rIns="0" bIns="0" rtlCol="0" anchor="t">
            <a:spAutoFit/>
          </a:bodyPr>
          <a:lstStyle/>
          <a:p>
            <a:pPr lvl="0">
              <a:lnSpc>
                <a:spcPts val="7382"/>
              </a:lnSpc>
              <a:spcBef>
                <a:spcPct val="0"/>
              </a:spcBef>
            </a:pPr>
            <a:r>
              <a:rPr lang="en-US" sz="5400" b="1" i="1" dirty="0" smtClean="0">
                <a:solidFill>
                  <a:srgbClr val="00B0F0"/>
                </a:solidFill>
              </a:rPr>
              <a:t>Requirement Specification:</a:t>
            </a:r>
            <a:endParaRPr lang="en-US" sz="5400" b="1" i="1" u="sng" dirty="0">
              <a:solidFill>
                <a:srgbClr val="00B0F0"/>
              </a:solidFill>
              <a:latin typeface="Now Bold"/>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cstate="print"/>
            <a:stretch>
              <a:fillRect t="-38888" b="-38888"/>
            </a:stretch>
          </a:blipFill>
        </p:spPr>
      </p:sp>
      <p:sp>
        <p:nvSpPr>
          <p:cNvPr id="6" name="Freeform 6"/>
          <p:cNvSpPr/>
          <p:nvPr/>
        </p:nvSpPr>
        <p:spPr>
          <a:xfrm rot="-1486492">
            <a:off x="15563637" y="8055643"/>
            <a:ext cx="3391326" cy="3387087"/>
          </a:xfrm>
          <a:custGeom>
            <a:avLst/>
            <a:gdLst/>
            <a:ahLst/>
            <a:cxnLst/>
            <a:rect l="l" t="t" r="r" b="b"/>
            <a:pathLst>
              <a:path w="3391326" h="3387087">
                <a:moveTo>
                  <a:pt x="0" y="0"/>
                </a:moveTo>
                <a:lnTo>
                  <a:pt x="3391326" y="0"/>
                </a:lnTo>
                <a:lnTo>
                  <a:pt x="3391326" y="3387087"/>
                </a:lnTo>
                <a:lnTo>
                  <a:pt x="0" y="3387087"/>
                </a:lnTo>
                <a:lnTo>
                  <a:pt x="0" y="0"/>
                </a:lnTo>
                <a:close/>
              </a:path>
            </a:pathLst>
          </a:custGeom>
          <a:blipFill>
            <a:blip r:embed="rId3" cstate="print"/>
            <a:stretch>
              <a:fillRect/>
            </a:stretch>
          </a:blipFill>
        </p:spPr>
      </p:sp>
      <p:sp>
        <p:nvSpPr>
          <p:cNvPr id="7" name="Freeform 7"/>
          <p:cNvSpPr/>
          <p:nvPr/>
        </p:nvSpPr>
        <p:spPr>
          <a:xfrm rot="1973881">
            <a:off x="14821121" y="-2131887"/>
            <a:ext cx="3391326" cy="3387087"/>
          </a:xfrm>
          <a:custGeom>
            <a:avLst/>
            <a:gdLst/>
            <a:ahLst/>
            <a:cxnLst/>
            <a:rect l="l" t="t" r="r" b="b"/>
            <a:pathLst>
              <a:path w="3391326" h="3387087">
                <a:moveTo>
                  <a:pt x="0" y="0"/>
                </a:moveTo>
                <a:lnTo>
                  <a:pt x="3391326" y="0"/>
                </a:lnTo>
                <a:lnTo>
                  <a:pt x="3391326" y="3387087"/>
                </a:lnTo>
                <a:lnTo>
                  <a:pt x="0" y="3387087"/>
                </a:lnTo>
                <a:lnTo>
                  <a:pt x="0" y="0"/>
                </a:lnTo>
                <a:close/>
              </a:path>
            </a:pathLst>
          </a:custGeom>
          <a:blipFill>
            <a:blip r:embed="rId3" cstate="print"/>
            <a:stretch>
              <a:fillRect/>
            </a:stretch>
          </a:blipFill>
        </p:spPr>
      </p:sp>
      <p:sp>
        <p:nvSpPr>
          <p:cNvPr id="8" name="Freeform 3"/>
          <p:cNvSpPr/>
          <p:nvPr/>
        </p:nvSpPr>
        <p:spPr>
          <a:xfrm rot="2223819">
            <a:off x="-6334162" y="5417464"/>
            <a:ext cx="9665112" cy="8771089"/>
          </a:xfrm>
          <a:custGeom>
            <a:avLst/>
            <a:gdLst/>
            <a:ahLst/>
            <a:cxnLst/>
            <a:rect l="l" t="t" r="r" b="b"/>
            <a:pathLst>
              <a:path w="9665112" h="8771089">
                <a:moveTo>
                  <a:pt x="0" y="0"/>
                </a:moveTo>
                <a:lnTo>
                  <a:pt x="9665112" y="0"/>
                </a:lnTo>
                <a:lnTo>
                  <a:pt x="9665112" y="8771089"/>
                </a:lnTo>
                <a:lnTo>
                  <a:pt x="0" y="8771089"/>
                </a:lnTo>
                <a:lnTo>
                  <a:pt x="0" y="0"/>
                </a:lnTo>
                <a:close/>
              </a:path>
            </a:pathLst>
          </a:custGeom>
          <a:blipFill>
            <a:blip r:embed="rId4" cstate="print"/>
            <a:stretch>
              <a:fillRect/>
            </a:stretch>
          </a:blipFill>
        </p:spPr>
      </p:sp>
      <p:sp>
        <p:nvSpPr>
          <p:cNvPr id="9" name="TextBox 8"/>
          <p:cNvSpPr txBox="1"/>
          <p:nvPr/>
        </p:nvSpPr>
        <p:spPr>
          <a:xfrm>
            <a:off x="2057400" y="876300"/>
            <a:ext cx="13639800" cy="8402300"/>
          </a:xfrm>
          <a:prstGeom prst="rect">
            <a:avLst/>
          </a:prstGeom>
          <a:noFill/>
        </p:spPr>
        <p:txBody>
          <a:bodyPr wrap="square" rtlCol="0">
            <a:spAutoFit/>
          </a:bodyPr>
          <a:lstStyle/>
          <a:p>
            <a:r>
              <a:rPr lang="en-US" sz="3600" b="1" i="1" dirty="0" smtClean="0">
                <a:solidFill>
                  <a:schemeClr val="bg1"/>
                </a:solidFill>
              </a:rPr>
              <a:t>Admin </a:t>
            </a:r>
            <a:r>
              <a:rPr lang="en-US" sz="3600" i="1" dirty="0" smtClean="0">
                <a:solidFill>
                  <a:schemeClr val="bg1"/>
                </a:solidFill>
              </a:rPr>
              <a:t>can manage all the Customer Details in a separate and secured Database. </a:t>
            </a:r>
            <a:endParaRPr lang="en-US" sz="3600" i="1" dirty="0" smtClean="0">
              <a:solidFill>
                <a:schemeClr val="bg1"/>
              </a:solidFill>
            </a:endParaRPr>
          </a:p>
          <a:p>
            <a:endParaRPr lang="en-US" sz="3600" i="1" dirty="0" smtClean="0">
              <a:solidFill>
                <a:schemeClr val="bg1"/>
              </a:solidFill>
            </a:endParaRPr>
          </a:p>
          <a:p>
            <a:r>
              <a:rPr lang="en-US" sz="3600" b="1" i="1" dirty="0" smtClean="0">
                <a:solidFill>
                  <a:schemeClr val="bg1"/>
                </a:solidFill>
              </a:rPr>
              <a:t>Reports</a:t>
            </a:r>
            <a:r>
              <a:rPr lang="en-US" sz="3600" i="1" dirty="0" smtClean="0">
                <a:solidFill>
                  <a:schemeClr val="bg1"/>
                </a:solidFill>
              </a:rPr>
              <a:t> </a:t>
            </a:r>
            <a:r>
              <a:rPr lang="en-US" sz="3600" i="1" dirty="0" smtClean="0">
                <a:solidFill>
                  <a:schemeClr val="bg1"/>
                </a:solidFill>
              </a:rPr>
              <a:t>of all the Bill can be viewed by the admin of the system</a:t>
            </a:r>
            <a:r>
              <a:rPr lang="en-US" sz="3600" i="1" dirty="0" smtClean="0">
                <a:solidFill>
                  <a:schemeClr val="bg1"/>
                </a:solidFill>
              </a:rPr>
              <a:t>.</a:t>
            </a:r>
          </a:p>
          <a:p>
            <a:endParaRPr lang="en-US" sz="3600" i="1" dirty="0" smtClean="0">
              <a:solidFill>
                <a:schemeClr val="bg1"/>
              </a:solidFill>
              <a:latin typeface="DM Sans Italics" charset="0"/>
            </a:endParaRPr>
          </a:p>
          <a:p>
            <a:r>
              <a:rPr lang="en-US" sz="3600" b="1" i="1" dirty="0" smtClean="0">
                <a:solidFill>
                  <a:schemeClr val="bg1"/>
                </a:solidFill>
              </a:rPr>
              <a:t>Logout </a:t>
            </a:r>
            <a:r>
              <a:rPr lang="en-US" sz="3600" i="1" dirty="0" smtClean="0">
                <a:solidFill>
                  <a:schemeClr val="bg1"/>
                </a:solidFill>
              </a:rPr>
              <a:t>they can logout if they have done with their actions on the database. </a:t>
            </a:r>
            <a:endParaRPr lang="en-US" sz="3600" i="1" dirty="0" smtClean="0">
              <a:solidFill>
                <a:schemeClr val="bg1"/>
              </a:solidFill>
            </a:endParaRPr>
          </a:p>
          <a:p>
            <a:endParaRPr lang="en-US" sz="3600" i="1" dirty="0" smtClean="0">
              <a:solidFill>
                <a:schemeClr val="bg1"/>
              </a:solidFill>
            </a:endParaRPr>
          </a:p>
          <a:p>
            <a:r>
              <a:rPr lang="en-US" sz="3600" b="1" i="1" dirty="0" smtClean="0">
                <a:solidFill>
                  <a:schemeClr val="bg1"/>
                </a:solidFill>
              </a:rPr>
              <a:t>Admin </a:t>
            </a:r>
            <a:r>
              <a:rPr lang="en-US" sz="3600" b="1" i="1" dirty="0" smtClean="0">
                <a:solidFill>
                  <a:schemeClr val="bg1"/>
                </a:solidFill>
              </a:rPr>
              <a:t>can </a:t>
            </a:r>
            <a:r>
              <a:rPr lang="en-US" sz="3600" i="1" dirty="0" smtClean="0">
                <a:solidFill>
                  <a:schemeClr val="bg1"/>
                </a:solidFill>
              </a:rPr>
              <a:t>view all locations status Agent can view only approved their orders. They can add new couriers. and they can download all approved couriers in XLSX</a:t>
            </a:r>
            <a:r>
              <a:rPr lang="en-US" sz="3600" i="1" dirty="0" smtClean="0">
                <a:solidFill>
                  <a:schemeClr val="bg1"/>
                </a:solidFill>
              </a:rPr>
              <a:t>.</a:t>
            </a:r>
          </a:p>
          <a:p>
            <a:endParaRPr lang="en-US" sz="3600" i="1" dirty="0" smtClean="0">
              <a:solidFill>
                <a:schemeClr val="bg1"/>
              </a:solidFill>
            </a:endParaRPr>
          </a:p>
          <a:p>
            <a:r>
              <a:rPr lang="en-US" sz="3600" i="1" dirty="0" smtClean="0">
                <a:solidFill>
                  <a:schemeClr val="bg1"/>
                </a:solidFill>
              </a:rPr>
              <a:t> </a:t>
            </a:r>
            <a:r>
              <a:rPr lang="en-US" sz="3600" b="1" i="1" dirty="0" smtClean="0">
                <a:solidFill>
                  <a:schemeClr val="bg1"/>
                </a:solidFill>
              </a:rPr>
              <a:t>User</a:t>
            </a:r>
            <a:r>
              <a:rPr lang="en-US" sz="3600" i="1" dirty="0" smtClean="0">
                <a:solidFill>
                  <a:schemeClr val="bg1"/>
                </a:solidFill>
              </a:rPr>
              <a:t> can track order, search using consignment tracking details, order status and can print. </a:t>
            </a:r>
            <a:endParaRPr lang="en-US" sz="3600" i="1" dirty="0" smtClean="0">
              <a:solidFill>
                <a:schemeClr val="bg1"/>
              </a:solidFill>
            </a:endParaRPr>
          </a:p>
          <a:p>
            <a:r>
              <a:rPr lang="en-US" sz="3600" i="1" dirty="0" smtClean="0">
                <a:solidFill>
                  <a:schemeClr val="bg1"/>
                </a:solidFill>
              </a:rPr>
              <a:t>Admin </a:t>
            </a:r>
            <a:r>
              <a:rPr lang="en-US" sz="3600" i="1" dirty="0" smtClean="0">
                <a:solidFill>
                  <a:schemeClr val="bg1"/>
                </a:solidFill>
              </a:rPr>
              <a:t>can add Agents, manage Agents, manage customers.</a:t>
            </a:r>
            <a:endParaRPr lang="en-US" sz="3340" i="1" dirty="0">
              <a:solidFill>
                <a:schemeClr val="bg1"/>
              </a:solidFill>
              <a:latin typeface="DM Sans Italics"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cstate="print"/>
            <a:stretch>
              <a:fillRect t="-38888" b="-38888"/>
            </a:stretch>
          </a:blipFill>
        </p:spPr>
      </p:sp>
      <p:sp>
        <p:nvSpPr>
          <p:cNvPr id="6" name="Freeform 6"/>
          <p:cNvSpPr/>
          <p:nvPr/>
        </p:nvSpPr>
        <p:spPr>
          <a:xfrm rot="-1486492">
            <a:off x="15563637" y="8055643"/>
            <a:ext cx="3391326" cy="3387087"/>
          </a:xfrm>
          <a:custGeom>
            <a:avLst/>
            <a:gdLst/>
            <a:ahLst/>
            <a:cxnLst/>
            <a:rect l="l" t="t" r="r" b="b"/>
            <a:pathLst>
              <a:path w="3391326" h="3387087">
                <a:moveTo>
                  <a:pt x="0" y="0"/>
                </a:moveTo>
                <a:lnTo>
                  <a:pt x="3391326" y="0"/>
                </a:lnTo>
                <a:lnTo>
                  <a:pt x="3391326" y="3387087"/>
                </a:lnTo>
                <a:lnTo>
                  <a:pt x="0" y="3387087"/>
                </a:lnTo>
                <a:lnTo>
                  <a:pt x="0" y="0"/>
                </a:lnTo>
                <a:close/>
              </a:path>
            </a:pathLst>
          </a:custGeom>
          <a:blipFill>
            <a:blip r:embed="rId3" cstate="print"/>
            <a:stretch>
              <a:fillRect/>
            </a:stretch>
          </a:blipFill>
        </p:spPr>
      </p:sp>
      <p:sp>
        <p:nvSpPr>
          <p:cNvPr id="7" name="Freeform 7"/>
          <p:cNvSpPr/>
          <p:nvPr/>
        </p:nvSpPr>
        <p:spPr>
          <a:xfrm rot="1973881">
            <a:off x="14821121" y="-2131887"/>
            <a:ext cx="3391326" cy="3387087"/>
          </a:xfrm>
          <a:custGeom>
            <a:avLst/>
            <a:gdLst/>
            <a:ahLst/>
            <a:cxnLst/>
            <a:rect l="l" t="t" r="r" b="b"/>
            <a:pathLst>
              <a:path w="3391326" h="3387087">
                <a:moveTo>
                  <a:pt x="0" y="0"/>
                </a:moveTo>
                <a:lnTo>
                  <a:pt x="3391326" y="0"/>
                </a:lnTo>
                <a:lnTo>
                  <a:pt x="3391326" y="3387087"/>
                </a:lnTo>
                <a:lnTo>
                  <a:pt x="0" y="3387087"/>
                </a:lnTo>
                <a:lnTo>
                  <a:pt x="0" y="0"/>
                </a:lnTo>
                <a:close/>
              </a:path>
            </a:pathLst>
          </a:custGeom>
          <a:blipFill>
            <a:blip r:embed="rId3" cstate="print"/>
            <a:stretch>
              <a:fillRect/>
            </a:stretch>
          </a:blipFill>
        </p:spPr>
      </p:sp>
      <p:sp>
        <p:nvSpPr>
          <p:cNvPr id="8" name="Freeform 3"/>
          <p:cNvSpPr/>
          <p:nvPr/>
        </p:nvSpPr>
        <p:spPr>
          <a:xfrm rot="2223819">
            <a:off x="-6334162" y="5417464"/>
            <a:ext cx="9665112" cy="8771089"/>
          </a:xfrm>
          <a:custGeom>
            <a:avLst/>
            <a:gdLst/>
            <a:ahLst/>
            <a:cxnLst/>
            <a:rect l="l" t="t" r="r" b="b"/>
            <a:pathLst>
              <a:path w="9665112" h="8771089">
                <a:moveTo>
                  <a:pt x="0" y="0"/>
                </a:moveTo>
                <a:lnTo>
                  <a:pt x="9665112" y="0"/>
                </a:lnTo>
                <a:lnTo>
                  <a:pt x="9665112" y="8771089"/>
                </a:lnTo>
                <a:lnTo>
                  <a:pt x="0" y="8771089"/>
                </a:lnTo>
                <a:lnTo>
                  <a:pt x="0" y="0"/>
                </a:lnTo>
                <a:close/>
              </a:path>
            </a:pathLst>
          </a:custGeom>
          <a:blipFill>
            <a:blip r:embed="rId4" cstate="print"/>
            <a:stretch>
              <a:fillRect/>
            </a:stretch>
          </a:blipFill>
        </p:spPr>
      </p:sp>
      <p:sp>
        <p:nvSpPr>
          <p:cNvPr id="9" name="TextBox 8"/>
          <p:cNvSpPr txBox="1"/>
          <p:nvPr/>
        </p:nvSpPr>
        <p:spPr>
          <a:xfrm>
            <a:off x="2057400" y="876300"/>
            <a:ext cx="13639800" cy="2862322"/>
          </a:xfrm>
          <a:prstGeom prst="rect">
            <a:avLst/>
          </a:prstGeom>
          <a:noFill/>
        </p:spPr>
        <p:txBody>
          <a:bodyPr wrap="square" rtlCol="0">
            <a:spAutoFit/>
          </a:bodyPr>
          <a:lstStyle/>
          <a:p>
            <a:endParaRPr lang="en-US" sz="3600" i="1" dirty="0" smtClean="0">
              <a:solidFill>
                <a:schemeClr val="bg1"/>
              </a:solidFill>
            </a:endParaRPr>
          </a:p>
          <a:p>
            <a:r>
              <a:rPr lang="en-US" sz="3600" i="1" dirty="0" smtClean="0">
                <a:solidFill>
                  <a:schemeClr val="bg1"/>
                </a:solidFill>
              </a:rPr>
              <a:t> </a:t>
            </a:r>
            <a:r>
              <a:rPr lang="en-US" sz="3600" b="1" i="1" dirty="0" smtClean="0">
                <a:solidFill>
                  <a:schemeClr val="bg1"/>
                </a:solidFill>
              </a:rPr>
              <a:t>User</a:t>
            </a:r>
            <a:r>
              <a:rPr lang="en-US" sz="3600" i="1" dirty="0" smtClean="0">
                <a:solidFill>
                  <a:schemeClr val="bg1"/>
                </a:solidFill>
              </a:rPr>
              <a:t> can track order, search using consignment tracking details, order status and can print. </a:t>
            </a:r>
            <a:endParaRPr lang="en-US" sz="3600" i="1" dirty="0" smtClean="0">
              <a:solidFill>
                <a:schemeClr val="bg1"/>
              </a:solidFill>
            </a:endParaRPr>
          </a:p>
          <a:p>
            <a:endParaRPr lang="en-US" sz="3600" i="1" dirty="0" smtClean="0">
              <a:solidFill>
                <a:schemeClr val="bg1"/>
              </a:solidFill>
            </a:endParaRPr>
          </a:p>
          <a:p>
            <a:r>
              <a:rPr lang="en-US" sz="3600" b="1" i="1" dirty="0" smtClean="0">
                <a:solidFill>
                  <a:schemeClr val="bg1"/>
                </a:solidFill>
              </a:rPr>
              <a:t>Admin </a:t>
            </a:r>
            <a:r>
              <a:rPr lang="en-US" sz="3600" i="1" dirty="0" smtClean="0">
                <a:solidFill>
                  <a:schemeClr val="bg1"/>
                </a:solidFill>
              </a:rPr>
              <a:t>can add Agents, manage Agents, manage customers.</a:t>
            </a:r>
            <a:endParaRPr lang="en-US" sz="3340" i="1" dirty="0">
              <a:solidFill>
                <a:schemeClr val="bg1"/>
              </a:solidFill>
              <a:latin typeface="DM Sans Italics" charset="0"/>
            </a:endParaRPr>
          </a:p>
        </p:txBody>
      </p:sp>
      <p:sp>
        <p:nvSpPr>
          <p:cNvPr id="10" name="TextBox 9"/>
          <p:cNvSpPr txBox="1"/>
          <p:nvPr/>
        </p:nvSpPr>
        <p:spPr>
          <a:xfrm>
            <a:off x="4419600" y="4914900"/>
            <a:ext cx="9296400" cy="1323439"/>
          </a:xfrm>
          <a:prstGeom prst="rect">
            <a:avLst/>
          </a:prstGeom>
          <a:noFill/>
        </p:spPr>
        <p:txBody>
          <a:bodyPr wrap="square" rtlCol="0">
            <a:spAutoFit/>
          </a:bodyPr>
          <a:lstStyle/>
          <a:p>
            <a:pPr algn="ctr"/>
            <a:r>
              <a:rPr lang="en-US" sz="8000" b="1" i="1" dirty="0" smtClean="0">
                <a:solidFill>
                  <a:srgbClr val="1204CC"/>
                </a:solidFill>
                <a:effectLst>
                  <a:outerShdw blurRad="38100" dist="38100" dir="2700000" algn="tl">
                    <a:srgbClr val="000000">
                      <a:alpha val="43137"/>
                    </a:srgbClr>
                  </a:outerShdw>
                </a:effectLst>
                <a:latin typeface="Georgia" pitchFamily="18" charset="0"/>
              </a:rPr>
              <a:t>Thank You!</a:t>
            </a:r>
            <a:endParaRPr lang="en-US" sz="8000" b="1" i="1" dirty="0">
              <a:solidFill>
                <a:srgbClr val="1204CC"/>
              </a:solidFill>
              <a:effectLst>
                <a:outerShdw blurRad="38100" dist="38100" dir="2700000" algn="tl">
                  <a:srgbClr val="000000">
                    <a:alpha val="43137"/>
                  </a:srgbClr>
                </a:outerShdw>
              </a:effectLst>
              <a:latin typeface="Georgia"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1725</TotalTime>
  <Words>720</Words>
  <Application>Microsoft Office PowerPoint</Application>
  <PresentationFormat>Custom</PresentationFormat>
  <Paragraphs>59</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DM Sans Italics</vt:lpstr>
      <vt:lpstr>Now Bold</vt:lpstr>
      <vt:lpstr>DM Sans</vt:lpstr>
      <vt:lpstr>Georgia</vt:lpstr>
      <vt:lpstr>Office Theme</vt:lpstr>
      <vt:lpstr>Slide 1</vt:lpstr>
      <vt:lpstr>Slide 2</vt:lpstr>
      <vt:lpstr>Slide 3</vt:lpstr>
      <vt:lpstr>Slide 4</vt:lpstr>
      <vt:lpstr>Slide 5</vt:lpstr>
      <vt:lpstr>Slide 6</vt:lpstr>
      <vt:lpstr>Slide 7</vt:lpstr>
      <vt:lpstr>Slide 8</vt:lpstr>
      <vt:lpstr>Slide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constructor</dc:title>
  <dc:creator>Ahmed Asif</dc:creator>
  <cp:lastModifiedBy>Ahmed Asif</cp:lastModifiedBy>
  <cp:revision>58</cp:revision>
  <dcterms:created xsi:type="dcterms:W3CDTF">2006-08-16T00:00:00Z</dcterms:created>
  <dcterms:modified xsi:type="dcterms:W3CDTF">2024-02-05T16:39:58Z</dcterms:modified>
  <dc:identifier>DAFzNSjQnwc</dc:identifier>
</cp:coreProperties>
</file>